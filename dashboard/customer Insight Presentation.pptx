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 id="2147483660" r:id="rId2"/>
  </p:sldMasterIdLst>
  <p:notesMasterIdLst>
    <p:notesMasterId r:id="rId15"/>
  </p:notesMasterIdLst>
  <p:sldIdLst>
    <p:sldId id="268" r:id="rId3"/>
    <p:sldId id="266" r:id="rId4"/>
    <p:sldId id="256" r:id="rId5"/>
    <p:sldId id="257" r:id="rId6"/>
    <p:sldId id="258" r:id="rId7"/>
    <p:sldId id="259" r:id="rId8"/>
    <p:sldId id="260" r:id="rId9"/>
    <p:sldId id="261" r:id="rId10"/>
    <p:sldId id="262" r:id="rId11"/>
    <p:sldId id="263" r:id="rId12"/>
    <p:sldId id="264" r:id="rId13"/>
    <p:sldId id="265" r:id="rId14"/>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3484" autoAdjust="0"/>
  </p:normalViewPr>
  <p:slideViewPr>
    <p:cSldViewPr snapToGrid="0" snapToObjects="1">
      <p:cViewPr varScale="1">
        <p:scale>
          <a:sx n="63" d="100"/>
          <a:sy n="63" d="100"/>
        </p:scale>
        <p:origin x="1380" y="56"/>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6.xml"/><Relationship Id="rId13" Type="http://schemas.openxmlformats.org/officeDocument/2006/relationships/slide" Target="slides/slide11.xml"/><Relationship Id="rId18" Type="http://schemas.openxmlformats.org/officeDocument/2006/relationships/theme" Target="theme/theme1.xml"/><Relationship Id="rId3" Type="http://schemas.openxmlformats.org/officeDocument/2006/relationships/slide" Target="slides/slide1.xml"/><Relationship Id="rId7" Type="http://schemas.openxmlformats.org/officeDocument/2006/relationships/slide" Target="slides/slide5.xml"/><Relationship Id="rId12" Type="http://schemas.openxmlformats.org/officeDocument/2006/relationships/slide" Target="slides/slide10.xml"/><Relationship Id="rId17" Type="http://schemas.openxmlformats.org/officeDocument/2006/relationships/viewProps" Target="viewProps.xml"/><Relationship Id="rId2" Type="http://schemas.openxmlformats.org/officeDocument/2006/relationships/slideMaster" Target="slideMasters/slideMaster2.xml"/><Relationship Id="rId16"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4.xml"/><Relationship Id="rId11" Type="http://schemas.openxmlformats.org/officeDocument/2006/relationships/slide" Target="slides/slide9.xml"/><Relationship Id="rId5" Type="http://schemas.openxmlformats.org/officeDocument/2006/relationships/slide" Target="slides/slide3.xml"/><Relationship Id="rId15" Type="http://schemas.openxmlformats.org/officeDocument/2006/relationships/notesMaster" Target="notesMasters/notesMaster1.xml"/><Relationship Id="rId10" Type="http://schemas.openxmlformats.org/officeDocument/2006/relationships/slide" Target="slides/slide8.xml"/><Relationship Id="rId19" Type="http://schemas.openxmlformats.org/officeDocument/2006/relationships/tableStyles" Target="tableStyles.xml"/><Relationship Id="rId4" Type="http://schemas.openxmlformats.org/officeDocument/2006/relationships/slide" Target="slides/slide2.xml"/><Relationship Id="rId9" Type="http://schemas.openxmlformats.org/officeDocument/2006/relationships/slide" Target="slides/slide7.xml"/><Relationship Id="rId14" Type="http://schemas.openxmlformats.org/officeDocument/2006/relationships/slide" Target="slides/slide12.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2496702447"/>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lang="en-US" dirty="0" smtClean="0">
                <a:effectLst/>
              </a:rPr>
              <a:t>I think about revenue the way I think about a live data feed. I look for stability and watch for anything that stands out. 2013 stands out right away because there’s a huge spike compared to earlier years. When I notice a change like that, my first step is to figure out what caused it. In a real market dataset, I would look for events, changes in structure, or data quality issues during that time. My main rule is simple: don’t guess what it means until you understand the movement</a:t>
            </a:r>
            <a:endParaRPr lang="en-US" dirty="0">
              <a:effectLst/>
            </a:endParaRPr>
          </a:p>
        </p:txBody>
      </p:sp>
      <p:sp>
        <p:nvSpPr>
          <p:cNvPr id="4" name="Slide Number Placeholder 3"/>
          <p:cNvSpPr>
            <a:spLocks noGrp="1"/>
          </p:cNvSpPr>
          <p:nvPr>
            <p:ph type="sldNum" sz="quarter" idx="5"/>
          </p:nvPr>
        </p:nvSpPr>
        <p:spPr/>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dirty="0"/>
              <a:t>Bikes dominate everything. More than $28M from one category. That’s concentration risk. If bikes slow down, everything slows down. Accessories and clothing barely move the needle. This kind of dependency is something I would surface early to a strategy team to avoid blind spots.</a:t>
            </a:r>
          </a:p>
        </p:txBody>
      </p:sp>
      <p:sp>
        <p:nvSpPr>
          <p:cNvPr id="4" name="Slide Number Placeholder 3"/>
          <p:cNvSpPr>
            <a:spLocks noGrp="1"/>
          </p:cNvSpPr>
          <p:nvPr>
            <p:ph type="sldNum" sz="quarter" idx="5"/>
          </p:nvPr>
        </p:nvSpPr>
        <p:spPr/>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dirty="0"/>
              <a:t>New customers bring in the highest revenue, even above VIPs. It tells me acquisition is strong, but long‑term retention is weak. If I was supporting a client on OneTick Cloud, this is the type of insight I’d surface immediately because it influences onboarding and engagement decisions.</a:t>
            </a:r>
          </a:p>
        </p:txBody>
      </p:sp>
      <p:sp>
        <p:nvSpPr>
          <p:cNvPr id="4" name="Slide Number Placeholder 3"/>
          <p:cNvSpPr>
            <a:spLocks noGrp="1"/>
          </p:cNvSpPr>
          <p:nvPr>
            <p:ph type="sldNum" sz="quarter" idx="5"/>
          </p:nvPr>
        </p:nvSpPr>
        <p:spPr/>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dirty="0"/>
              <a:t>Only 2,905 customers are active, but more than 15,000 need engagement. That’s a major gap. In a market‑data context, this would feel like declining liquidity: fewer active participants, greater risk. It’s a signal worth watching closely.</a:t>
            </a:r>
          </a:p>
        </p:txBody>
      </p:sp>
      <p:sp>
        <p:nvSpPr>
          <p:cNvPr id="4" name="Slide Number Placeholder 3"/>
          <p:cNvSpPr>
            <a:spLocks noGrp="1"/>
          </p:cNvSpPr>
          <p:nvPr>
            <p:ph type="sldNum" sz="quarter" idx="5"/>
          </p:nvPr>
        </p:nvSpPr>
        <p:spPr/>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dirty="0"/>
              <a:t>December peaks every year. It’s predictable, seasonal, and consistent. Time‑series patterns like this matter in forecasting and help prevent misinterpretation of expected spikes. It’s the same logic used when analyzing market cycles.</a:t>
            </a:r>
          </a:p>
        </p:txBody>
      </p:sp>
      <p:sp>
        <p:nvSpPr>
          <p:cNvPr id="4" name="Slide Number Placeholder 3"/>
          <p:cNvSpPr>
            <a:spLocks noGrp="1"/>
          </p:cNvSpPr>
          <p:nvPr>
            <p:ph type="sldNum" sz="quarter" idx="5"/>
          </p:nvPr>
        </p:nvSpPr>
        <p:spPr/>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dirty="0"/>
              <a:t>The most‑ordered products are low‑value items like bottles and tubes. This shows high‑frequency, low‑value buying behavior. In financial terms, this feels like a highly liquid asset: lots of activity at small amounts.</a:t>
            </a:r>
          </a:p>
        </p:txBody>
      </p:sp>
      <p:sp>
        <p:nvSpPr>
          <p:cNvPr id="4" name="Slide Number Placeholder 3"/>
          <p:cNvSpPr>
            <a:spLocks noGrp="1"/>
          </p:cNvSpPr>
          <p:nvPr>
            <p:ph type="sldNum" sz="quarter" idx="5"/>
          </p:nvPr>
        </p:nvSpPr>
        <p:spPr/>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dirty="0"/>
              <a:t>High‑value products drive your revenue, even though they aren’t ordered the most. That gives us two customer profiles: frequent spenders and high‑value buyers. It’s important for segmentation and pricing decisions.</a:t>
            </a:r>
          </a:p>
        </p:txBody>
      </p:sp>
      <p:sp>
        <p:nvSpPr>
          <p:cNvPr id="4" name="Slide Number Placeholder 3"/>
          <p:cNvSpPr>
            <a:spLocks noGrp="1"/>
          </p:cNvSpPr>
          <p:nvPr>
            <p:ph type="sldNum" sz="quarter" idx="5"/>
          </p:nvPr>
        </p:nvSpPr>
        <p:spPr/>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dirty="0"/>
              <a:t>Tire tubes and bottle cages deliver strong margins. Even though they don’t generate the highest revenue, they are extremely efficient. This is the kind of insight that affects pricing, supply, and portfolio decisions.</a:t>
            </a:r>
          </a:p>
        </p:txBody>
      </p:sp>
      <p:sp>
        <p:nvSpPr>
          <p:cNvPr id="4" name="Slide Number Placeholder 3"/>
          <p:cNvSpPr>
            <a:spLocks noGrp="1"/>
          </p:cNvSpPr>
          <p:nvPr>
            <p:ph type="sldNum" sz="quarter" idx="5"/>
          </p:nvPr>
        </p:nvSpPr>
        <p:spPr/>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dirty="0"/>
              <a:t>My approach is simple: find patterns, validate anomalies, understand behavior, and turn numbers into decisions. This is exactly how I would support clients on OneTick — through clarity and insight.</a:t>
            </a:r>
          </a:p>
        </p:txBody>
      </p:sp>
      <p:sp>
        <p:nvSpPr>
          <p:cNvPr id="4" name="Slide Number Placeholder 3"/>
          <p:cNvSpPr>
            <a:spLocks noGrp="1"/>
          </p:cNvSpPr>
          <p:nvPr>
            <p:ph type="sldNum" sz="quarter" idx="5"/>
          </p:nvPr>
        </p:nvSpPr>
        <p:spPr/>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dirty="0"/>
              <a:t>Clarity matters. If I can explain a trend in one sentence, it means I understand it well. And when I understand it, I can help teams make better decisions. That’s the value I bring: clear thinking and client‑focused analysis.</a:t>
            </a:r>
          </a:p>
        </p:txBody>
      </p:sp>
      <p:sp>
        <p:nvSpPr>
          <p:cNvPr id="4" name="Slide Number Placeholder 3"/>
          <p:cNvSpPr>
            <a:spLocks noGrp="1"/>
          </p:cNvSpPr>
          <p:nvPr>
            <p:ph type="sldNum" sz="quarter" idx="5"/>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12/6/2025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12/6/2025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12/6/2025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12/6/2025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12/6/2025</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12/6/2025</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12/6/2025</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12/6/2025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12/6/2025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12/6/2025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12/6/2025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143000" y="1122363"/>
            <a:ext cx="6858000" cy="2387600"/>
          </a:xfrm>
        </p:spPr>
        <p:txBody>
          <a:bodyPr anchor="b"/>
          <a:lstStyle>
            <a:lvl1pPr algn="ctr">
              <a:defRPr sz="4500"/>
            </a:lvl1pPr>
          </a:lstStyle>
          <a:p>
            <a:r>
              <a:rPr lang="en-US"/>
              <a:t>Click to edit Master title style</a:t>
            </a:r>
          </a:p>
        </p:txBody>
      </p:sp>
      <p:sp>
        <p:nvSpPr>
          <p:cNvPr id="3" name="Subtitle 2"/>
          <p:cNvSpPr>
            <a:spLocks noGrp="1"/>
          </p:cNvSpPr>
          <p:nvPr>
            <p:ph type="subTitle" idx="1"/>
          </p:nvPr>
        </p:nvSpPr>
        <p:spPr>
          <a:xfrm>
            <a:off x="1143000" y="3602038"/>
            <a:ext cx="6858000" cy="1655762"/>
          </a:xfrm>
        </p:spPr>
        <p:txBody>
          <a:bodyPr/>
          <a:lstStyle>
            <a:lvl1pPr marL="0" indent="0" algn="ctr">
              <a:buNone/>
              <a:defRPr sz="1800"/>
            </a:lvl1pPr>
            <a:lvl2pPr marL="342900" indent="0" algn="ctr">
              <a:buNone/>
              <a:defRPr sz="1500"/>
            </a:lvl2pPr>
            <a:lvl3pPr marL="685800" indent="0" algn="ctr">
              <a:buNone/>
              <a:defRPr sz="1350"/>
            </a:lvl3pPr>
            <a:lvl4pPr marL="1028700" indent="0" algn="ctr">
              <a:buNone/>
              <a:defRPr sz="1200"/>
            </a:lvl4pPr>
            <a:lvl5pPr marL="1371600" indent="0" algn="ctr">
              <a:buNone/>
              <a:defRPr sz="1200"/>
            </a:lvl5pPr>
            <a:lvl6pPr marL="1714500" indent="0" algn="ctr">
              <a:buNone/>
              <a:defRPr sz="1200"/>
            </a:lvl6pPr>
            <a:lvl7pPr marL="2057400" indent="0" algn="ctr">
              <a:buNone/>
              <a:defRPr sz="1200"/>
            </a:lvl7pPr>
            <a:lvl8pPr marL="2400300" indent="0" algn="ctr">
              <a:buNone/>
              <a:defRPr sz="1200"/>
            </a:lvl8pPr>
            <a:lvl9pPr marL="2743200" indent="0" algn="ctr">
              <a:buNone/>
              <a:defRPr sz="1200"/>
            </a:lvl9pPr>
          </a:lstStyle>
          <a:p>
            <a:r>
              <a:rPr lang="en-US"/>
              <a:t>Click to edit Master subtitle style</a:t>
            </a:r>
          </a:p>
        </p:txBody>
      </p:sp>
      <p:sp>
        <p:nvSpPr>
          <p:cNvPr id="4" name="Date Placeholder 3"/>
          <p:cNvSpPr>
            <a:spLocks noGrp="1"/>
          </p:cNvSpPr>
          <p:nvPr>
            <p:ph type="dt" sz="half" idx="10"/>
          </p:nvPr>
        </p:nvSpPr>
        <p:spPr/>
        <p:txBody>
          <a:bodyPr/>
          <a:lstStyle/>
          <a:p>
            <a:fld id="{627ED9C8-F09A-4D9E-BEC0-4725162E21FF}" type="datetimeFigureOut">
              <a:rPr lang="en-US" smtClean="0"/>
              <a:t>12/6/2025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8C7D807A-D3EC-4DEA-86E2-120E4093F1A6}" type="slidenum">
              <a:rPr lang="en-US" smtClean="0"/>
              <a:t>‹#›</a:t>
            </a:fld>
            <a:endParaRPr lang="en-US"/>
          </a:p>
        </p:txBody>
      </p:sp>
    </p:spTree>
    <p:extLst>
      <p:ext uri="{BB962C8B-B14F-4D97-AF65-F5344CB8AC3E}">
        <p14:creationId xmlns:p14="http://schemas.microsoft.com/office/powerpoint/2010/main" val="155195886"/>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627ED9C8-F09A-4D9E-BEC0-4725162E21FF}" type="datetimeFigureOut">
              <a:rPr lang="en-US" smtClean="0"/>
              <a:t>12/6/2025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8C7D807A-D3EC-4DEA-86E2-120E4093F1A6}" type="slidenum">
              <a:rPr lang="en-US" smtClean="0"/>
              <a:t>‹#›</a:t>
            </a:fld>
            <a:endParaRPr lang="en-US"/>
          </a:p>
        </p:txBody>
      </p:sp>
    </p:spTree>
    <p:extLst>
      <p:ext uri="{BB962C8B-B14F-4D97-AF65-F5344CB8AC3E}">
        <p14:creationId xmlns:p14="http://schemas.microsoft.com/office/powerpoint/2010/main" val="3093281548"/>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623888" y="1709739"/>
            <a:ext cx="7886700" cy="2852737"/>
          </a:xfrm>
        </p:spPr>
        <p:txBody>
          <a:bodyPr anchor="b"/>
          <a:lstStyle>
            <a:lvl1pPr>
              <a:defRPr sz="4500"/>
            </a:lvl1pPr>
          </a:lstStyle>
          <a:p>
            <a:r>
              <a:rPr lang="en-US"/>
              <a:t>Click to edit Master title style</a:t>
            </a:r>
          </a:p>
        </p:txBody>
      </p:sp>
      <p:sp>
        <p:nvSpPr>
          <p:cNvPr id="3" name="Text Placeholder 2"/>
          <p:cNvSpPr>
            <a:spLocks noGrp="1"/>
          </p:cNvSpPr>
          <p:nvPr>
            <p:ph type="body" idx="1"/>
          </p:nvPr>
        </p:nvSpPr>
        <p:spPr>
          <a:xfrm>
            <a:off x="623888" y="4589464"/>
            <a:ext cx="7886700" cy="1500187"/>
          </a:xfrm>
        </p:spPr>
        <p:txBody>
          <a:bodyPr/>
          <a:lstStyle>
            <a:lvl1pPr marL="0" indent="0">
              <a:buNone/>
              <a:defRPr sz="1800">
                <a:solidFill>
                  <a:schemeClr val="tx1">
                    <a:tint val="75000"/>
                  </a:schemeClr>
                </a:solidFill>
              </a:defRPr>
            </a:lvl1pPr>
            <a:lvl2pPr marL="342900" indent="0">
              <a:buNone/>
              <a:defRPr sz="1500">
                <a:solidFill>
                  <a:schemeClr val="tx1">
                    <a:tint val="75000"/>
                  </a:schemeClr>
                </a:solidFill>
              </a:defRPr>
            </a:lvl2pPr>
            <a:lvl3pPr marL="685800" indent="0">
              <a:buNone/>
              <a:defRPr sz="1350">
                <a:solidFill>
                  <a:schemeClr val="tx1">
                    <a:tint val="75000"/>
                  </a:schemeClr>
                </a:solidFill>
              </a:defRPr>
            </a:lvl3pPr>
            <a:lvl4pPr marL="1028700" indent="0">
              <a:buNone/>
              <a:defRPr sz="1200">
                <a:solidFill>
                  <a:schemeClr val="tx1">
                    <a:tint val="75000"/>
                  </a:schemeClr>
                </a:solidFill>
              </a:defRPr>
            </a:lvl4pPr>
            <a:lvl5pPr marL="1371600" indent="0">
              <a:buNone/>
              <a:defRPr sz="1200">
                <a:solidFill>
                  <a:schemeClr val="tx1">
                    <a:tint val="75000"/>
                  </a:schemeClr>
                </a:solidFill>
              </a:defRPr>
            </a:lvl5pPr>
            <a:lvl6pPr marL="1714500" indent="0">
              <a:buNone/>
              <a:defRPr sz="1200">
                <a:solidFill>
                  <a:schemeClr val="tx1">
                    <a:tint val="75000"/>
                  </a:schemeClr>
                </a:solidFill>
              </a:defRPr>
            </a:lvl6pPr>
            <a:lvl7pPr marL="2057400" indent="0">
              <a:buNone/>
              <a:defRPr sz="1200">
                <a:solidFill>
                  <a:schemeClr val="tx1">
                    <a:tint val="75000"/>
                  </a:schemeClr>
                </a:solidFill>
              </a:defRPr>
            </a:lvl7pPr>
            <a:lvl8pPr marL="2400300" indent="0">
              <a:buNone/>
              <a:defRPr sz="1200">
                <a:solidFill>
                  <a:schemeClr val="tx1">
                    <a:tint val="75000"/>
                  </a:schemeClr>
                </a:solidFill>
              </a:defRPr>
            </a:lvl8pPr>
            <a:lvl9pPr marL="2743200" indent="0">
              <a:buNone/>
              <a:defRPr sz="1200">
                <a:solidFill>
                  <a:schemeClr val="tx1">
                    <a:tint val="75000"/>
                  </a:schemeClr>
                </a:solidFill>
              </a:defRPr>
            </a:lvl9pPr>
          </a:lstStyle>
          <a:p>
            <a:pPr lvl="0"/>
            <a:r>
              <a:rPr lang="en-US"/>
              <a:t>Edit Master text styles</a:t>
            </a:r>
          </a:p>
        </p:txBody>
      </p:sp>
      <p:sp>
        <p:nvSpPr>
          <p:cNvPr id="4" name="Date Placeholder 3"/>
          <p:cNvSpPr>
            <a:spLocks noGrp="1"/>
          </p:cNvSpPr>
          <p:nvPr>
            <p:ph type="dt" sz="half" idx="10"/>
          </p:nvPr>
        </p:nvSpPr>
        <p:spPr/>
        <p:txBody>
          <a:bodyPr/>
          <a:lstStyle/>
          <a:p>
            <a:fld id="{627ED9C8-F09A-4D9E-BEC0-4725162E21FF}" type="datetimeFigureOut">
              <a:rPr lang="en-US" smtClean="0"/>
              <a:t>12/6/2025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8C7D807A-D3EC-4DEA-86E2-120E4093F1A6}" type="slidenum">
              <a:rPr lang="en-US" smtClean="0"/>
              <a:t>‹#›</a:t>
            </a:fld>
            <a:endParaRPr lang="en-US"/>
          </a:p>
        </p:txBody>
      </p:sp>
    </p:spTree>
    <p:extLst>
      <p:ext uri="{BB962C8B-B14F-4D97-AF65-F5344CB8AC3E}">
        <p14:creationId xmlns:p14="http://schemas.microsoft.com/office/powerpoint/2010/main" val="1863626435"/>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628650" y="1825625"/>
            <a:ext cx="3886200" cy="435133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29150" y="1825625"/>
            <a:ext cx="3886200" cy="435133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627ED9C8-F09A-4D9E-BEC0-4725162E21FF}" type="datetimeFigureOut">
              <a:rPr lang="en-US" smtClean="0"/>
              <a:t>12/6/2025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8C7D807A-D3EC-4DEA-86E2-120E4093F1A6}" type="slidenum">
              <a:rPr lang="en-US" smtClean="0"/>
              <a:t>‹#›</a:t>
            </a:fld>
            <a:endParaRPr lang="en-US"/>
          </a:p>
        </p:txBody>
      </p:sp>
    </p:spTree>
    <p:extLst>
      <p:ext uri="{BB962C8B-B14F-4D97-AF65-F5344CB8AC3E}">
        <p14:creationId xmlns:p14="http://schemas.microsoft.com/office/powerpoint/2010/main" val="440963755"/>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629841" y="365126"/>
            <a:ext cx="7886700" cy="1325563"/>
          </a:xfrm>
        </p:spPr>
        <p:txBody>
          <a:bodyPr/>
          <a:lstStyle/>
          <a:p>
            <a:r>
              <a:rPr lang="en-US"/>
              <a:t>Click to edit Master title style</a:t>
            </a:r>
          </a:p>
        </p:txBody>
      </p:sp>
      <p:sp>
        <p:nvSpPr>
          <p:cNvPr id="3" name="Text Placeholder 2"/>
          <p:cNvSpPr>
            <a:spLocks noGrp="1"/>
          </p:cNvSpPr>
          <p:nvPr>
            <p:ph type="body" idx="1"/>
          </p:nvPr>
        </p:nvSpPr>
        <p:spPr>
          <a:xfrm>
            <a:off x="629842" y="1681163"/>
            <a:ext cx="3868340" cy="823912"/>
          </a:xfrm>
        </p:spPr>
        <p:txBody>
          <a:bodyPr anchor="b"/>
          <a:lstStyle>
            <a:lvl1pPr marL="0" indent="0">
              <a:buNone/>
              <a:defRPr sz="1800" b="1"/>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en-US"/>
              <a:t>Edit Master text styles</a:t>
            </a:r>
          </a:p>
        </p:txBody>
      </p:sp>
      <p:sp>
        <p:nvSpPr>
          <p:cNvPr id="4" name="Content Placeholder 3"/>
          <p:cNvSpPr>
            <a:spLocks noGrp="1"/>
          </p:cNvSpPr>
          <p:nvPr>
            <p:ph sz="half" idx="2"/>
          </p:nvPr>
        </p:nvSpPr>
        <p:spPr>
          <a:xfrm>
            <a:off x="629842" y="2505075"/>
            <a:ext cx="3868340" cy="368458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29150" y="1681163"/>
            <a:ext cx="3887391" cy="823912"/>
          </a:xfrm>
        </p:spPr>
        <p:txBody>
          <a:bodyPr anchor="b"/>
          <a:lstStyle>
            <a:lvl1pPr marL="0" indent="0">
              <a:buNone/>
              <a:defRPr sz="1800" b="1"/>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en-US"/>
              <a:t>Edit Master text styles</a:t>
            </a:r>
          </a:p>
        </p:txBody>
      </p:sp>
      <p:sp>
        <p:nvSpPr>
          <p:cNvPr id="6" name="Content Placeholder 5"/>
          <p:cNvSpPr>
            <a:spLocks noGrp="1"/>
          </p:cNvSpPr>
          <p:nvPr>
            <p:ph sz="quarter" idx="4"/>
          </p:nvPr>
        </p:nvSpPr>
        <p:spPr>
          <a:xfrm>
            <a:off x="4629150" y="2505075"/>
            <a:ext cx="3887391" cy="368458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627ED9C8-F09A-4D9E-BEC0-4725162E21FF}" type="datetimeFigureOut">
              <a:rPr lang="en-US" smtClean="0"/>
              <a:t>12/6/2025</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8C7D807A-D3EC-4DEA-86E2-120E4093F1A6}" type="slidenum">
              <a:rPr lang="en-US" smtClean="0"/>
              <a:t>‹#›</a:t>
            </a:fld>
            <a:endParaRPr lang="en-US"/>
          </a:p>
        </p:txBody>
      </p:sp>
    </p:spTree>
    <p:extLst>
      <p:ext uri="{BB962C8B-B14F-4D97-AF65-F5344CB8AC3E}">
        <p14:creationId xmlns:p14="http://schemas.microsoft.com/office/powerpoint/2010/main" val="748680022"/>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627ED9C8-F09A-4D9E-BEC0-4725162E21FF}" type="datetimeFigureOut">
              <a:rPr lang="en-US" smtClean="0"/>
              <a:t>12/6/2025</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8C7D807A-D3EC-4DEA-86E2-120E4093F1A6}" type="slidenum">
              <a:rPr lang="en-US" smtClean="0"/>
              <a:t>‹#›</a:t>
            </a:fld>
            <a:endParaRPr lang="en-US"/>
          </a:p>
        </p:txBody>
      </p:sp>
    </p:spTree>
    <p:extLst>
      <p:ext uri="{BB962C8B-B14F-4D97-AF65-F5344CB8AC3E}">
        <p14:creationId xmlns:p14="http://schemas.microsoft.com/office/powerpoint/2010/main" val="2003293352"/>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627ED9C8-F09A-4D9E-BEC0-4725162E21FF}" type="datetimeFigureOut">
              <a:rPr lang="en-US" smtClean="0"/>
              <a:t>12/6/2025</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8C7D807A-D3EC-4DEA-86E2-120E4093F1A6}" type="slidenum">
              <a:rPr lang="en-US" smtClean="0"/>
              <a:t>‹#›</a:t>
            </a:fld>
            <a:endParaRPr lang="en-US"/>
          </a:p>
        </p:txBody>
      </p:sp>
    </p:spTree>
    <p:extLst>
      <p:ext uri="{BB962C8B-B14F-4D97-AF65-F5344CB8AC3E}">
        <p14:creationId xmlns:p14="http://schemas.microsoft.com/office/powerpoint/2010/main" val="1506577858"/>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29841" y="457200"/>
            <a:ext cx="2949178" cy="1600200"/>
          </a:xfrm>
        </p:spPr>
        <p:txBody>
          <a:bodyPr anchor="b"/>
          <a:lstStyle>
            <a:lvl1pPr>
              <a:defRPr sz="2400"/>
            </a:lvl1pPr>
          </a:lstStyle>
          <a:p>
            <a:r>
              <a:rPr lang="en-US"/>
              <a:t>Click to edit Master title style</a:t>
            </a:r>
          </a:p>
        </p:txBody>
      </p:sp>
      <p:sp>
        <p:nvSpPr>
          <p:cNvPr id="3" name="Content Placeholder 2"/>
          <p:cNvSpPr>
            <a:spLocks noGrp="1"/>
          </p:cNvSpPr>
          <p:nvPr>
            <p:ph idx="1"/>
          </p:nvPr>
        </p:nvSpPr>
        <p:spPr>
          <a:xfrm>
            <a:off x="3887391" y="987426"/>
            <a:ext cx="4629150" cy="4873625"/>
          </a:xfrm>
        </p:spPr>
        <p:txBody>
          <a:bodyPr/>
          <a:lstStyle>
            <a:lvl1pPr>
              <a:defRPr sz="2400"/>
            </a:lvl1pPr>
            <a:lvl2pPr>
              <a:defRPr sz="2100"/>
            </a:lvl2pPr>
            <a:lvl3pPr>
              <a:defRPr sz="1800"/>
            </a:lvl3pPr>
            <a:lvl4pPr>
              <a:defRPr sz="1500"/>
            </a:lvl4pPr>
            <a:lvl5pPr>
              <a:defRPr sz="1500"/>
            </a:lvl5pPr>
            <a:lvl6pPr>
              <a:defRPr sz="1500"/>
            </a:lvl6pPr>
            <a:lvl7pPr>
              <a:defRPr sz="1500"/>
            </a:lvl7pPr>
            <a:lvl8pPr>
              <a:defRPr sz="1500"/>
            </a:lvl8pPr>
            <a:lvl9pPr>
              <a:defRPr sz="1500"/>
            </a:lvl9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629841" y="2057400"/>
            <a:ext cx="2949178" cy="3811588"/>
          </a:xfrm>
        </p:spPr>
        <p:txBody>
          <a:bodyPr/>
          <a:lstStyle>
            <a:lvl1pPr marL="0" indent="0">
              <a:buNone/>
              <a:defRPr sz="1200"/>
            </a:lvl1pPr>
            <a:lvl2pPr marL="342900" indent="0">
              <a:buNone/>
              <a:defRPr sz="1050"/>
            </a:lvl2pPr>
            <a:lvl3pPr marL="685800" indent="0">
              <a:buNone/>
              <a:defRPr sz="900"/>
            </a:lvl3pPr>
            <a:lvl4pPr marL="1028700" indent="0">
              <a:buNone/>
              <a:defRPr sz="750"/>
            </a:lvl4pPr>
            <a:lvl5pPr marL="1371600" indent="0">
              <a:buNone/>
              <a:defRPr sz="750"/>
            </a:lvl5pPr>
            <a:lvl6pPr marL="1714500" indent="0">
              <a:buNone/>
              <a:defRPr sz="750"/>
            </a:lvl6pPr>
            <a:lvl7pPr marL="2057400" indent="0">
              <a:buNone/>
              <a:defRPr sz="750"/>
            </a:lvl7pPr>
            <a:lvl8pPr marL="2400300" indent="0">
              <a:buNone/>
              <a:defRPr sz="750"/>
            </a:lvl8pPr>
            <a:lvl9pPr marL="2743200" indent="0">
              <a:buNone/>
              <a:defRPr sz="750"/>
            </a:lvl9pPr>
          </a:lstStyle>
          <a:p>
            <a:pPr lvl="0"/>
            <a:r>
              <a:rPr lang="en-US"/>
              <a:t>Edit Master text styles</a:t>
            </a:r>
          </a:p>
        </p:txBody>
      </p:sp>
      <p:sp>
        <p:nvSpPr>
          <p:cNvPr id="5" name="Date Placeholder 4"/>
          <p:cNvSpPr>
            <a:spLocks noGrp="1"/>
          </p:cNvSpPr>
          <p:nvPr>
            <p:ph type="dt" sz="half" idx="10"/>
          </p:nvPr>
        </p:nvSpPr>
        <p:spPr/>
        <p:txBody>
          <a:bodyPr/>
          <a:lstStyle/>
          <a:p>
            <a:fld id="{627ED9C8-F09A-4D9E-BEC0-4725162E21FF}" type="datetimeFigureOut">
              <a:rPr lang="en-US" smtClean="0"/>
              <a:t>12/6/2025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8C7D807A-D3EC-4DEA-86E2-120E4093F1A6}" type="slidenum">
              <a:rPr lang="en-US" smtClean="0"/>
              <a:t>‹#›</a:t>
            </a:fld>
            <a:endParaRPr lang="en-US"/>
          </a:p>
        </p:txBody>
      </p:sp>
    </p:spTree>
    <p:extLst>
      <p:ext uri="{BB962C8B-B14F-4D97-AF65-F5344CB8AC3E}">
        <p14:creationId xmlns:p14="http://schemas.microsoft.com/office/powerpoint/2010/main" val="2225307734"/>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29841" y="457200"/>
            <a:ext cx="2949178" cy="1600200"/>
          </a:xfrm>
        </p:spPr>
        <p:txBody>
          <a:bodyPr anchor="b"/>
          <a:lstStyle>
            <a:lvl1pPr>
              <a:defRPr sz="2400"/>
            </a:lvl1pPr>
          </a:lstStyle>
          <a:p>
            <a:r>
              <a:rPr lang="en-US"/>
              <a:t>Click to edit Master title style</a:t>
            </a:r>
          </a:p>
        </p:txBody>
      </p:sp>
      <p:sp>
        <p:nvSpPr>
          <p:cNvPr id="3" name="Picture Placeholder 2"/>
          <p:cNvSpPr>
            <a:spLocks noGrp="1"/>
          </p:cNvSpPr>
          <p:nvPr>
            <p:ph type="pic" idx="1"/>
          </p:nvPr>
        </p:nvSpPr>
        <p:spPr>
          <a:xfrm>
            <a:off x="3887391" y="987426"/>
            <a:ext cx="4629150" cy="4873625"/>
          </a:xfrm>
        </p:spPr>
        <p:txBody>
          <a:bodyPr/>
          <a:lstStyle>
            <a:lvl1pPr marL="0" indent="0">
              <a:buNone/>
              <a:defRPr sz="2400"/>
            </a:lvl1pPr>
            <a:lvl2pPr marL="342900" indent="0">
              <a:buNone/>
              <a:defRPr sz="2100"/>
            </a:lvl2pPr>
            <a:lvl3pPr marL="685800" indent="0">
              <a:buNone/>
              <a:defRPr sz="1800"/>
            </a:lvl3pPr>
            <a:lvl4pPr marL="1028700" indent="0">
              <a:buNone/>
              <a:defRPr sz="1500"/>
            </a:lvl4pPr>
            <a:lvl5pPr marL="1371600" indent="0">
              <a:buNone/>
              <a:defRPr sz="1500"/>
            </a:lvl5pPr>
            <a:lvl6pPr marL="1714500" indent="0">
              <a:buNone/>
              <a:defRPr sz="1500"/>
            </a:lvl6pPr>
            <a:lvl7pPr marL="2057400" indent="0">
              <a:buNone/>
              <a:defRPr sz="1500"/>
            </a:lvl7pPr>
            <a:lvl8pPr marL="2400300" indent="0">
              <a:buNone/>
              <a:defRPr sz="1500"/>
            </a:lvl8pPr>
            <a:lvl9pPr marL="2743200" indent="0">
              <a:buNone/>
              <a:defRPr sz="1500"/>
            </a:lvl9pPr>
          </a:lstStyle>
          <a:p>
            <a:endParaRPr lang="en-US"/>
          </a:p>
        </p:txBody>
      </p:sp>
      <p:sp>
        <p:nvSpPr>
          <p:cNvPr id="4" name="Text Placeholder 3"/>
          <p:cNvSpPr>
            <a:spLocks noGrp="1"/>
          </p:cNvSpPr>
          <p:nvPr>
            <p:ph type="body" sz="half" idx="2"/>
          </p:nvPr>
        </p:nvSpPr>
        <p:spPr>
          <a:xfrm>
            <a:off x="629841" y="2057400"/>
            <a:ext cx="2949178" cy="3811588"/>
          </a:xfrm>
        </p:spPr>
        <p:txBody>
          <a:bodyPr/>
          <a:lstStyle>
            <a:lvl1pPr marL="0" indent="0">
              <a:buNone/>
              <a:defRPr sz="1200"/>
            </a:lvl1pPr>
            <a:lvl2pPr marL="342900" indent="0">
              <a:buNone/>
              <a:defRPr sz="1050"/>
            </a:lvl2pPr>
            <a:lvl3pPr marL="685800" indent="0">
              <a:buNone/>
              <a:defRPr sz="900"/>
            </a:lvl3pPr>
            <a:lvl4pPr marL="1028700" indent="0">
              <a:buNone/>
              <a:defRPr sz="750"/>
            </a:lvl4pPr>
            <a:lvl5pPr marL="1371600" indent="0">
              <a:buNone/>
              <a:defRPr sz="750"/>
            </a:lvl5pPr>
            <a:lvl6pPr marL="1714500" indent="0">
              <a:buNone/>
              <a:defRPr sz="750"/>
            </a:lvl6pPr>
            <a:lvl7pPr marL="2057400" indent="0">
              <a:buNone/>
              <a:defRPr sz="750"/>
            </a:lvl7pPr>
            <a:lvl8pPr marL="2400300" indent="0">
              <a:buNone/>
              <a:defRPr sz="750"/>
            </a:lvl8pPr>
            <a:lvl9pPr marL="2743200" indent="0">
              <a:buNone/>
              <a:defRPr sz="750"/>
            </a:lvl9pPr>
          </a:lstStyle>
          <a:p>
            <a:pPr lvl="0"/>
            <a:r>
              <a:rPr lang="en-US"/>
              <a:t>Edit Master text styles</a:t>
            </a:r>
          </a:p>
        </p:txBody>
      </p:sp>
      <p:sp>
        <p:nvSpPr>
          <p:cNvPr id="5" name="Date Placeholder 4"/>
          <p:cNvSpPr>
            <a:spLocks noGrp="1"/>
          </p:cNvSpPr>
          <p:nvPr>
            <p:ph type="dt" sz="half" idx="10"/>
          </p:nvPr>
        </p:nvSpPr>
        <p:spPr/>
        <p:txBody>
          <a:bodyPr/>
          <a:lstStyle/>
          <a:p>
            <a:fld id="{627ED9C8-F09A-4D9E-BEC0-4725162E21FF}" type="datetimeFigureOut">
              <a:rPr lang="en-US" smtClean="0"/>
              <a:t>12/6/2025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8C7D807A-D3EC-4DEA-86E2-120E4093F1A6}" type="slidenum">
              <a:rPr lang="en-US" smtClean="0"/>
              <a:t>‹#›</a:t>
            </a:fld>
            <a:endParaRPr lang="en-US"/>
          </a:p>
        </p:txBody>
      </p:sp>
    </p:spTree>
    <p:extLst>
      <p:ext uri="{BB962C8B-B14F-4D97-AF65-F5344CB8AC3E}">
        <p14:creationId xmlns:p14="http://schemas.microsoft.com/office/powerpoint/2010/main" val="3504713176"/>
      </p:ext>
    </p:extLst>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627ED9C8-F09A-4D9E-BEC0-4725162E21FF}" type="datetimeFigureOut">
              <a:rPr lang="en-US" smtClean="0"/>
              <a:t>12/6/2025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8C7D807A-D3EC-4DEA-86E2-120E4093F1A6}" type="slidenum">
              <a:rPr lang="en-US" smtClean="0"/>
              <a:t>‹#›</a:t>
            </a:fld>
            <a:endParaRPr lang="en-US"/>
          </a:p>
        </p:txBody>
      </p:sp>
    </p:spTree>
    <p:extLst>
      <p:ext uri="{BB962C8B-B14F-4D97-AF65-F5344CB8AC3E}">
        <p14:creationId xmlns:p14="http://schemas.microsoft.com/office/powerpoint/2010/main" val="1611301836"/>
      </p:ext>
    </p:extLst>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543675" y="365125"/>
            <a:ext cx="1971675" cy="5811838"/>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628650" y="365125"/>
            <a:ext cx="5800725" cy="5811838"/>
          </a:xfrm>
        </p:spPr>
        <p:txBody>
          <a:bodyPr vert="eaVert"/>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627ED9C8-F09A-4D9E-BEC0-4725162E21FF}" type="datetimeFigureOut">
              <a:rPr lang="en-US" smtClean="0"/>
              <a:t>12/6/2025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8C7D807A-D3EC-4DEA-86E2-120E4093F1A6}" type="slidenum">
              <a:rPr lang="en-US" smtClean="0"/>
              <a:t>‹#›</a:t>
            </a:fld>
            <a:endParaRPr lang="en-US"/>
          </a:p>
        </p:txBody>
      </p:sp>
    </p:spTree>
    <p:extLst>
      <p:ext uri="{BB962C8B-B14F-4D97-AF65-F5344CB8AC3E}">
        <p14:creationId xmlns:p14="http://schemas.microsoft.com/office/powerpoint/2010/main" val="3173695379"/>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19.xml"/><Relationship Id="rId3" Type="http://schemas.openxmlformats.org/officeDocument/2006/relationships/slideLayout" Target="../slideLayouts/slideLayout14.xml"/><Relationship Id="rId7" Type="http://schemas.openxmlformats.org/officeDocument/2006/relationships/slideLayout" Target="../slideLayouts/slideLayout18.xml"/><Relationship Id="rId12" Type="http://schemas.openxmlformats.org/officeDocument/2006/relationships/theme" Target="../theme/theme2.xml"/><Relationship Id="rId2" Type="http://schemas.openxmlformats.org/officeDocument/2006/relationships/slideLayout" Target="../slideLayouts/slideLayout13.xml"/><Relationship Id="rId1" Type="http://schemas.openxmlformats.org/officeDocument/2006/relationships/slideLayout" Target="../slideLayouts/slideLayout12.xml"/><Relationship Id="rId6" Type="http://schemas.openxmlformats.org/officeDocument/2006/relationships/slideLayout" Target="../slideLayouts/slideLayout17.xml"/><Relationship Id="rId11" Type="http://schemas.openxmlformats.org/officeDocument/2006/relationships/slideLayout" Target="../slideLayouts/slideLayout22.xml"/><Relationship Id="rId5" Type="http://schemas.openxmlformats.org/officeDocument/2006/relationships/slideLayout" Target="../slideLayouts/slideLayout16.xml"/><Relationship Id="rId10" Type="http://schemas.openxmlformats.org/officeDocument/2006/relationships/slideLayout" Target="../slideLayouts/slideLayout21.xml"/><Relationship Id="rId4" Type="http://schemas.openxmlformats.org/officeDocument/2006/relationships/slideLayout" Target="../slideLayouts/slideLayout15.xml"/><Relationship Id="rId9" Type="http://schemas.openxmlformats.org/officeDocument/2006/relationships/slideLayout" Target="../slideLayouts/slideLayout20.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12/6/2025</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628650" y="365126"/>
            <a:ext cx="78867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628650" y="1825625"/>
            <a:ext cx="7886700" cy="4351338"/>
          </a:xfrm>
          <a:prstGeom prst="rect">
            <a:avLst/>
          </a:prstGeom>
        </p:spPr>
        <p:txBody>
          <a:bodyPr vert="horz" lIns="91440" tIns="45720" rIns="91440" bIns="45720" rtlCol="0">
            <a:normAutofit/>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628650" y="6356351"/>
            <a:ext cx="2057400" cy="365125"/>
          </a:xfrm>
          <a:prstGeom prst="rect">
            <a:avLst/>
          </a:prstGeom>
        </p:spPr>
        <p:txBody>
          <a:bodyPr vert="horz" lIns="91440" tIns="45720" rIns="91440" bIns="45720" rtlCol="0" anchor="ctr"/>
          <a:lstStyle>
            <a:lvl1pPr algn="l">
              <a:defRPr sz="900">
                <a:solidFill>
                  <a:schemeClr val="tx1">
                    <a:tint val="75000"/>
                  </a:schemeClr>
                </a:solidFill>
              </a:defRPr>
            </a:lvl1pPr>
          </a:lstStyle>
          <a:p>
            <a:fld id="{627ED9C8-F09A-4D9E-BEC0-4725162E21FF}" type="datetimeFigureOut">
              <a:rPr lang="en-US" smtClean="0"/>
              <a:t>12/6/2025</a:t>
            </a:fld>
            <a:endParaRPr lang="en-US"/>
          </a:p>
        </p:txBody>
      </p:sp>
      <p:sp>
        <p:nvSpPr>
          <p:cNvPr id="5" name="Footer Placeholder 4"/>
          <p:cNvSpPr>
            <a:spLocks noGrp="1"/>
          </p:cNvSpPr>
          <p:nvPr>
            <p:ph type="ftr" sz="quarter" idx="3"/>
          </p:nvPr>
        </p:nvSpPr>
        <p:spPr>
          <a:xfrm>
            <a:off x="3028950" y="6356351"/>
            <a:ext cx="3086100" cy="365125"/>
          </a:xfrm>
          <a:prstGeom prst="rect">
            <a:avLst/>
          </a:prstGeom>
        </p:spPr>
        <p:txBody>
          <a:bodyPr vert="horz" lIns="91440" tIns="45720" rIns="91440" bIns="45720" rtlCol="0" anchor="ctr"/>
          <a:lstStyle>
            <a:lvl1pPr algn="ctr">
              <a:defRPr sz="9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457950" y="6356351"/>
            <a:ext cx="2057400" cy="365125"/>
          </a:xfrm>
          <a:prstGeom prst="rect">
            <a:avLst/>
          </a:prstGeom>
        </p:spPr>
        <p:txBody>
          <a:bodyPr vert="horz" lIns="91440" tIns="45720" rIns="91440" bIns="45720" rtlCol="0" anchor="ctr"/>
          <a:lstStyle>
            <a:lvl1pPr algn="r">
              <a:defRPr sz="900">
                <a:solidFill>
                  <a:schemeClr val="tx1">
                    <a:tint val="75000"/>
                  </a:schemeClr>
                </a:solidFill>
              </a:defRPr>
            </a:lvl1pPr>
          </a:lstStyle>
          <a:p>
            <a:fld id="{8C7D807A-D3EC-4DEA-86E2-120E4093F1A6}" type="slidenum">
              <a:rPr lang="en-US" smtClean="0"/>
              <a:t>‹#›</a:t>
            </a:fld>
            <a:endParaRPr lang="en-US"/>
          </a:p>
        </p:txBody>
      </p:sp>
    </p:spTree>
    <p:extLst>
      <p:ext uri="{BB962C8B-B14F-4D97-AF65-F5344CB8AC3E}">
        <p14:creationId xmlns:p14="http://schemas.microsoft.com/office/powerpoint/2010/main" val="2861369986"/>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Lst>
  <p:txStyles>
    <p:titleStyle>
      <a:lvl1pPr algn="l" defTabSz="685800" rtl="0" eaLnBrk="1" latinLnBrk="0" hangingPunct="1">
        <a:lnSpc>
          <a:spcPct val="90000"/>
        </a:lnSpc>
        <a:spcBef>
          <a:spcPct val="0"/>
        </a:spcBef>
        <a:buNone/>
        <a:defRPr sz="3300" kern="1200">
          <a:solidFill>
            <a:schemeClr val="tx1"/>
          </a:solidFill>
          <a:latin typeface="+mj-lt"/>
          <a:ea typeface="+mj-ea"/>
          <a:cs typeface="+mj-cs"/>
        </a:defRPr>
      </a:lvl1pPr>
    </p:titleStyle>
    <p:bodyStyle>
      <a:lvl1pPr marL="171450" indent="-171450" algn="l" defTabSz="685800" rtl="0" eaLnBrk="1" latinLnBrk="0" hangingPunct="1">
        <a:lnSpc>
          <a:spcPct val="90000"/>
        </a:lnSpc>
        <a:spcBef>
          <a:spcPts val="750"/>
        </a:spcBef>
        <a:buFont typeface="Arial" panose="020B0604020202020204" pitchFamily="34" charset="0"/>
        <a:buChar char="•"/>
        <a:defRPr sz="2100" kern="1200">
          <a:solidFill>
            <a:schemeClr val="tx1"/>
          </a:solidFill>
          <a:latin typeface="+mn-lt"/>
          <a:ea typeface="+mn-ea"/>
          <a:cs typeface="+mn-cs"/>
        </a:defRPr>
      </a:lvl1pPr>
      <a:lvl2pPr marL="514350" indent="-171450" algn="l" defTabSz="685800" rtl="0" eaLnBrk="1" latinLnBrk="0" hangingPunct="1">
        <a:lnSpc>
          <a:spcPct val="90000"/>
        </a:lnSpc>
        <a:spcBef>
          <a:spcPts val="375"/>
        </a:spcBef>
        <a:buFont typeface="Arial" panose="020B0604020202020204" pitchFamily="34" charset="0"/>
        <a:buChar char="•"/>
        <a:defRPr sz="1800" kern="1200">
          <a:solidFill>
            <a:schemeClr val="tx1"/>
          </a:solidFill>
          <a:latin typeface="+mn-lt"/>
          <a:ea typeface="+mn-ea"/>
          <a:cs typeface="+mn-cs"/>
        </a:defRPr>
      </a:lvl2pPr>
      <a:lvl3pPr marL="857250" indent="-171450" algn="l" defTabSz="685800" rtl="0" eaLnBrk="1" latinLnBrk="0" hangingPunct="1">
        <a:lnSpc>
          <a:spcPct val="90000"/>
        </a:lnSpc>
        <a:spcBef>
          <a:spcPts val="375"/>
        </a:spcBef>
        <a:buFont typeface="Arial" panose="020B0604020202020204" pitchFamily="34" charset="0"/>
        <a:buChar char="•"/>
        <a:defRPr sz="1500" kern="1200">
          <a:solidFill>
            <a:schemeClr val="tx1"/>
          </a:solidFill>
          <a:latin typeface="+mn-lt"/>
          <a:ea typeface="+mn-ea"/>
          <a:cs typeface="+mn-cs"/>
        </a:defRPr>
      </a:lvl3pPr>
      <a:lvl4pPr marL="12001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4pPr>
      <a:lvl5pPr marL="15430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5pPr>
      <a:lvl6pPr marL="18859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6pPr>
      <a:lvl7pPr marL="22288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7pPr>
      <a:lvl8pPr marL="25717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8pPr>
      <a:lvl9pPr marL="29146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9pPr>
    </p:bodyStyle>
    <p:otherStyle>
      <a:defPPr>
        <a:defRPr lang="en-US"/>
      </a:defPPr>
      <a:lvl1pPr marL="0" algn="l" defTabSz="685800" rtl="0" eaLnBrk="1" latinLnBrk="0" hangingPunct="1">
        <a:defRPr sz="1350" kern="1200">
          <a:solidFill>
            <a:schemeClr val="tx1"/>
          </a:solidFill>
          <a:latin typeface="+mn-lt"/>
          <a:ea typeface="+mn-ea"/>
          <a:cs typeface="+mn-cs"/>
        </a:defRPr>
      </a:lvl1pPr>
      <a:lvl2pPr marL="342900" algn="l" defTabSz="685800" rtl="0" eaLnBrk="1" latinLnBrk="0" hangingPunct="1">
        <a:defRPr sz="1350" kern="1200">
          <a:solidFill>
            <a:schemeClr val="tx1"/>
          </a:solidFill>
          <a:latin typeface="+mn-lt"/>
          <a:ea typeface="+mn-ea"/>
          <a:cs typeface="+mn-cs"/>
        </a:defRPr>
      </a:lvl2pPr>
      <a:lvl3pPr marL="685800" algn="l" defTabSz="685800" rtl="0" eaLnBrk="1" latinLnBrk="0" hangingPunct="1">
        <a:defRPr sz="1350" kern="1200">
          <a:solidFill>
            <a:schemeClr val="tx1"/>
          </a:solidFill>
          <a:latin typeface="+mn-lt"/>
          <a:ea typeface="+mn-ea"/>
          <a:cs typeface="+mn-cs"/>
        </a:defRPr>
      </a:lvl3pPr>
      <a:lvl4pPr marL="1028700" algn="l" defTabSz="685800" rtl="0" eaLnBrk="1" latinLnBrk="0" hangingPunct="1">
        <a:defRPr sz="1350" kern="1200">
          <a:solidFill>
            <a:schemeClr val="tx1"/>
          </a:solidFill>
          <a:latin typeface="+mn-lt"/>
          <a:ea typeface="+mn-ea"/>
          <a:cs typeface="+mn-cs"/>
        </a:defRPr>
      </a:lvl4pPr>
      <a:lvl5pPr marL="1371600" algn="l" defTabSz="685800" rtl="0" eaLnBrk="1" latinLnBrk="0" hangingPunct="1">
        <a:defRPr sz="1350" kern="1200">
          <a:solidFill>
            <a:schemeClr val="tx1"/>
          </a:solidFill>
          <a:latin typeface="+mn-lt"/>
          <a:ea typeface="+mn-ea"/>
          <a:cs typeface="+mn-cs"/>
        </a:defRPr>
      </a:lvl5pPr>
      <a:lvl6pPr marL="1714500" algn="l" defTabSz="685800" rtl="0" eaLnBrk="1" latinLnBrk="0" hangingPunct="1">
        <a:defRPr sz="1350" kern="1200">
          <a:solidFill>
            <a:schemeClr val="tx1"/>
          </a:solidFill>
          <a:latin typeface="+mn-lt"/>
          <a:ea typeface="+mn-ea"/>
          <a:cs typeface="+mn-cs"/>
        </a:defRPr>
      </a:lvl6pPr>
      <a:lvl7pPr marL="2057400" algn="l" defTabSz="685800" rtl="0" eaLnBrk="1" latinLnBrk="0" hangingPunct="1">
        <a:defRPr sz="1350" kern="1200">
          <a:solidFill>
            <a:schemeClr val="tx1"/>
          </a:solidFill>
          <a:latin typeface="+mn-lt"/>
          <a:ea typeface="+mn-ea"/>
          <a:cs typeface="+mn-cs"/>
        </a:defRPr>
      </a:lvl7pPr>
      <a:lvl8pPr marL="2400300" algn="l" defTabSz="685800" rtl="0" eaLnBrk="1" latinLnBrk="0" hangingPunct="1">
        <a:defRPr sz="1350" kern="1200">
          <a:solidFill>
            <a:schemeClr val="tx1"/>
          </a:solidFill>
          <a:latin typeface="+mn-lt"/>
          <a:ea typeface="+mn-ea"/>
          <a:cs typeface="+mn-cs"/>
        </a:defRPr>
      </a:lvl8pPr>
      <a:lvl9pPr marL="2743200" algn="l" defTabSz="685800" rtl="0" eaLnBrk="1" latinLnBrk="0" hangingPunct="1">
        <a:defRPr sz="135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Layout" Target="../slideLayouts/slideLayout18.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3" Type="http://schemas.openxmlformats.org/officeDocument/2006/relationships/hyperlink" Target="https://app.powerbi.com/groups/me/reports/c935bbd8-419e-48c9-8309-01948e0bbd94/?pbi_source=PowerPoint" TargetMode="External"/><Relationship Id="rId2" Type="http://schemas.openxmlformats.org/officeDocument/2006/relationships/notesSlide" Target="../notesSlides/notesSlide1.xml"/><Relationship Id="rId1" Type="http://schemas.openxmlformats.org/officeDocument/2006/relationships/slideLayout" Target="../slideLayouts/slideLayout7.xml"/><Relationship Id="rId4" Type="http://schemas.openxmlformats.org/officeDocument/2006/relationships/image" Target="../media/image3.png"/></Relationships>
</file>

<file path=ppt/slides/_rels/slide4.xml.rels><?xml version="1.0" encoding="UTF-8" standalone="yes"?>
<Relationships xmlns="http://schemas.openxmlformats.org/package/2006/relationships"><Relationship Id="rId3" Type="http://schemas.openxmlformats.org/officeDocument/2006/relationships/hyperlink" Target="https://app.powerbi.com/groups/me/reports/c935bbd8-419e-48c9-8309-01948e0bbd94/?pbi_source=PowerPoint" TargetMode="External"/><Relationship Id="rId2" Type="http://schemas.openxmlformats.org/officeDocument/2006/relationships/notesSlide" Target="../notesSlides/notesSlide2.xml"/><Relationship Id="rId1" Type="http://schemas.openxmlformats.org/officeDocument/2006/relationships/slideLayout" Target="../slideLayouts/slideLayout7.xml"/><Relationship Id="rId4" Type="http://schemas.openxmlformats.org/officeDocument/2006/relationships/image" Target="../media/image3.png"/></Relationships>
</file>

<file path=ppt/slides/_rels/slide5.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3.xml"/><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4.xml"/><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5.xml"/><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6.xml"/><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7.xml"/><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8.xml"/><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chemeClr val="tx1"/>
        </a:solidFill>
        <a:effectLst/>
      </p:bgPr>
    </p:bg>
    <p:spTree>
      <p:nvGrpSpPr>
        <p:cNvPr id="1" name=""/>
        <p:cNvGrpSpPr/>
        <p:nvPr/>
      </p:nvGrpSpPr>
      <p:grpSpPr>
        <a:xfrm>
          <a:off x="0" y="0"/>
          <a:ext cx="0" cy="0"/>
          <a:chOff x="0" y="0"/>
          <a:chExt cx="0" cy="0"/>
        </a:xfrm>
      </p:grpSpPr>
      <p:pic>
        <p:nvPicPr>
          <p:cNvPr id="9" name="Picture 8">
            <a:extLst>
              <a:ext uri="{C183D7F6-B498-43B3-948B-1728B52AA6E4}">
                <adec:decorative xmlns:adec="http://schemas.microsoft.com/office/drawing/2017/decorative" xmlns:p14="http://schemas.microsoft.com/office/powerpoint/2010/main" xmlns:a14="http://schemas.microsoft.com/office/drawing/2010/main" xmlns="" val="1"/>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857250"/>
            <a:ext cx="9144000" cy="5143500"/>
          </a:xfrm>
          <a:prstGeom prst="rect">
            <a:avLst/>
          </a:prstGeom>
        </p:spPr>
      </p:pic>
      <p:sp>
        <p:nvSpPr>
          <p:cNvPr id="12" name="Title 1"/>
          <p:cNvSpPr txBox="1">
            <a:spLocks noGrp="1"/>
          </p:cNvSpPr>
          <p:nvPr>
            <p:ph type="title" idx="4294967295"/>
          </p:nvPr>
        </p:nvSpPr>
        <p:spPr>
          <a:xfrm>
            <a:off x="607938" y="3093862"/>
            <a:ext cx="4735513" cy="450056"/>
          </a:xfrm>
          <a:prstGeom prst="rect">
            <a:avLst/>
          </a:prstGeom>
          <a:noFill/>
          <a:ln>
            <a:noFill/>
            <a:prstDash/>
          </a:ln>
          <a:effectLst/>
        </p:spPr>
        <p:txBody>
          <a:bodyPr rot="0" spcFirstLastPara="0" vertOverflow="overflow" horzOverflow="overflow" vert="horz" wrap="square" lIns="68580" tIns="34290" rIns="68580" bIns="34290" numCol="1" spcCol="0" rtlCol="0" fromWordArt="0" anchor="b" anchorCtr="0" forceAA="0" compatLnSpc="1">
            <a:prstTxWarp prst="textNoShape">
              <a:avLst/>
            </a:prstTxWarp>
            <a:normAutofit fontScale="90000"/>
          </a:bodyPr>
          <a:lstStyle>
            <a:lvl1pPr algn="ctr" defTabSz="914400" rtl="0" eaLnBrk="1" latinLnBrk="0" hangingPunct="1">
              <a:lnSpc>
                <a:spcPct val="90000"/>
              </a:lnSpc>
              <a:spcBef>
                <a:spcPct val="0"/>
              </a:spcBef>
              <a:buNone/>
              <a:defRPr sz="4400" b="0" i="0" kern="1200" baseline="0">
                <a:solidFill>
                  <a:schemeClr val="tx1"/>
                </a:solidFill>
                <a:latin typeface="Segoe UI Light" charset="0"/>
                <a:ea typeface="Segoe UI Light" charset="0"/>
                <a:cs typeface="Segoe UI Light" charset="0"/>
              </a:defRPr>
            </a:lvl1pPr>
          </a:lstStyle>
          <a:p>
            <a:pPr algn="l" defTabSz="685800">
              <a:defRPr/>
            </a:pPr>
            <a:r>
              <a:rPr lang="en-US" sz="3300" dirty="0">
                <a:solidFill>
                  <a:srgbClr val="F3C910"/>
                </a:solidFill>
              </a:rPr>
              <a:t>Customers and product insight</a:t>
            </a:r>
          </a:p>
        </p:txBody>
      </p:sp>
      <p:pic>
        <p:nvPicPr>
          <p:cNvPr id="16" name="Picture 15" descr="Microsoft Power BI"/>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692658" y="1399032"/>
            <a:ext cx="1118018" cy="184354"/>
          </a:xfrm>
          <a:prstGeom prst="rect">
            <a:avLst/>
          </a:prstGeom>
        </p:spPr>
      </p:pic>
    </p:spTree>
    <p:extLst>
      <p:ext uri="{BB962C8B-B14F-4D97-AF65-F5344CB8AC3E}">
        <p14:creationId xmlns:p14="http://schemas.microsoft.com/office/powerpoint/2010/main" val="2989479944"/>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924560" y="1219200"/>
            <a:ext cx="7274560" cy="4124206"/>
          </a:xfrm>
          <a:prstGeom prst="rect">
            <a:avLst/>
          </a:prstGeom>
          <a:noFill/>
        </p:spPr>
        <p:txBody>
          <a:bodyPr wrap="square" rtlCol="0">
            <a:spAutoFit/>
          </a:bodyPr>
          <a:lstStyle/>
          <a:p>
            <a:pPr algn="ctr"/>
            <a:r>
              <a:rPr lang="en-US" sz="2800" b="1" dirty="0"/>
              <a:t>NTRODUCTION </a:t>
            </a:r>
            <a:endParaRPr lang="en-US" sz="2800" b="1" dirty="0" smtClean="0"/>
          </a:p>
          <a:p>
            <a:pPr algn="just"/>
            <a:endParaRPr lang="en-US" b="1" dirty="0"/>
          </a:p>
          <a:p>
            <a:pPr algn="just"/>
            <a:r>
              <a:rPr lang="en-US" dirty="0"/>
              <a:t>Before I walk through the dashboard, I want to share how I approach analysis. Whether it’s customer data or market data, my process stays the same. I look for the story the numbers are telling, and I focus on the movements that matter, the ones that break the pattern, the ones that need an explanation, and the ones that guide decisions</a:t>
            </a:r>
            <a:r>
              <a:rPr lang="en-US" dirty="0" smtClean="0"/>
              <a:t>.</a:t>
            </a:r>
          </a:p>
          <a:p>
            <a:pPr algn="just"/>
            <a:endParaRPr lang="en-US" dirty="0"/>
          </a:p>
          <a:p>
            <a:pPr algn="just"/>
            <a:r>
              <a:rPr lang="en-US" dirty="0"/>
              <a:t>In this presentation, I’ll walk you through the key patterns I identified, the behaviors they reveal, and how I translate those insights into practical guidance for product teams and clients. My goal isn’t just to show charts. It’s to show how I think, and how that thinking supports clear decisions, better onboarding, and stronger product adoption.</a:t>
            </a:r>
          </a:p>
          <a:p>
            <a:pPr algn="just"/>
            <a:endParaRPr lang="en-US" dirty="0"/>
          </a:p>
        </p:txBody>
      </p:sp>
    </p:spTree>
    <p:extLst>
      <p:ext uri="{BB962C8B-B14F-4D97-AF65-F5344CB8AC3E}">
        <p14:creationId xmlns:p14="http://schemas.microsoft.com/office/powerpoint/2010/main" val="1340926417"/>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457200" y="10160"/>
            <a:ext cx="8229600" cy="914400"/>
          </a:xfrm>
          <a:prstGeom prst="rect">
            <a:avLst/>
          </a:prstGeom>
          <a:noFill/>
        </p:spPr>
        <p:txBody>
          <a:bodyPr wrap="none">
            <a:spAutoFit/>
          </a:bodyPr>
          <a:lstStyle/>
          <a:p>
            <a:pPr algn="ctr">
              <a:defRPr sz="4000" b="1">
                <a:solidFill>
                  <a:srgbClr val="003B99"/>
                </a:solidFill>
              </a:defRPr>
            </a:pPr>
            <a:r>
              <a:rPr dirty="0"/>
              <a:t>Revenue Trend Overview</a:t>
            </a:r>
          </a:p>
        </p:txBody>
      </p:sp>
      <p:sp>
        <p:nvSpPr>
          <p:cNvPr id="3" name="TextBox 2"/>
          <p:cNvSpPr txBox="1"/>
          <p:nvPr/>
        </p:nvSpPr>
        <p:spPr>
          <a:xfrm>
            <a:off x="571500" y="650240"/>
            <a:ext cx="8229600" cy="548640"/>
          </a:xfrm>
          <a:prstGeom prst="rect">
            <a:avLst/>
          </a:prstGeom>
          <a:noFill/>
        </p:spPr>
        <p:txBody>
          <a:bodyPr wrap="none">
            <a:spAutoFit/>
          </a:bodyPr>
          <a:lstStyle/>
          <a:p>
            <a:pPr algn="ctr">
              <a:defRPr sz="2000">
                <a:solidFill>
                  <a:srgbClr val="505050"/>
                </a:solidFill>
              </a:defRPr>
            </a:pPr>
            <a:r>
              <a:rPr dirty="0"/>
              <a:t>What caused the sharp jump in 2013 and the drop in 2014?</a:t>
            </a:r>
          </a:p>
        </p:txBody>
      </p:sp>
      <p:sp>
        <p:nvSpPr>
          <p:cNvPr id="5" name="TextBox 4"/>
          <p:cNvSpPr txBox="1"/>
          <p:nvPr/>
        </p:nvSpPr>
        <p:spPr>
          <a:xfrm>
            <a:off x="182880" y="5654158"/>
            <a:ext cx="8859520" cy="1169551"/>
          </a:xfrm>
          <a:prstGeom prst="rect">
            <a:avLst/>
          </a:prstGeom>
          <a:noFill/>
        </p:spPr>
        <p:txBody>
          <a:bodyPr wrap="square" rtlCol="0">
            <a:spAutoFit/>
          </a:bodyPr>
          <a:lstStyle/>
          <a:p>
            <a:pPr algn="just"/>
            <a:r>
              <a:rPr lang="en-US" sz="1400" dirty="0"/>
              <a:t>I think about revenue the way I think about a live data feed. I look for stability and watch for anything that stands out. 2013 stands out right away because there’s a huge spike compared to earlier years. When I notice a change like that, my first step is to figure out what caused it. In a real market dataset, I would look for events, changes in structure, or data quality issues during that time. My main rule is simple: don’t guess what it means until you understand the movement</a:t>
            </a:r>
          </a:p>
          <a:p>
            <a:pPr algn="just"/>
            <a:endParaRPr lang="en-US" sz="1400" i="1" dirty="0"/>
          </a:p>
        </p:txBody>
      </p:sp>
      <p:pic>
        <p:nvPicPr>
          <p:cNvPr id="8" name="Picture" title="This slide contains the following visuals: textbox ,textbox ,cardVisual ,shape ,cardVisual ,shape ,cardVisual ,cardVisual ,shape ,cardVisual ,shape ,shape ,pageNavigator ,slicer ,cardVisual ,shape ,Sales Performance Overview  ,Category Breakdown ,shape ,textbox ,textbox. Please refer to the notes on this slide for details">
            <a:hlinkClick r:id="rId3"/>
          </p:cNvPr>
          <p:cNvPicPr>
            <a:picLocks noChangeAspect="1"/>
          </p:cNvPicPr>
          <p:nvPr/>
        </p:nvPicPr>
        <p:blipFill>
          <a:blip r:embed="rId4"/>
          <a:stretch>
            <a:fillRect/>
          </a:stretch>
        </p:blipFill>
        <p:spPr>
          <a:xfrm>
            <a:off x="345440" y="1076960"/>
            <a:ext cx="8341360" cy="4577198"/>
          </a:xfrm>
          <a:prstGeom prst="rect">
            <a:avLst/>
          </a:prstGeom>
          <a:noFill/>
        </p:spPr>
      </p:pic>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387350" y="16510"/>
            <a:ext cx="8229600" cy="914400"/>
          </a:xfrm>
          <a:prstGeom prst="rect">
            <a:avLst/>
          </a:prstGeom>
          <a:noFill/>
        </p:spPr>
        <p:txBody>
          <a:bodyPr wrap="none">
            <a:spAutoFit/>
          </a:bodyPr>
          <a:lstStyle/>
          <a:p>
            <a:pPr algn="ctr">
              <a:defRPr sz="4000" b="1">
                <a:solidFill>
                  <a:srgbClr val="003B99"/>
                </a:solidFill>
              </a:defRPr>
            </a:pPr>
            <a:r>
              <a:rPr dirty="0"/>
              <a:t>Category Breakdown</a:t>
            </a:r>
          </a:p>
        </p:txBody>
      </p:sp>
      <p:sp>
        <p:nvSpPr>
          <p:cNvPr id="3" name="TextBox 2"/>
          <p:cNvSpPr txBox="1"/>
          <p:nvPr/>
        </p:nvSpPr>
        <p:spPr>
          <a:xfrm>
            <a:off x="387350" y="669290"/>
            <a:ext cx="8229600" cy="548640"/>
          </a:xfrm>
          <a:prstGeom prst="rect">
            <a:avLst/>
          </a:prstGeom>
          <a:noFill/>
        </p:spPr>
        <p:txBody>
          <a:bodyPr wrap="none">
            <a:spAutoFit/>
          </a:bodyPr>
          <a:lstStyle/>
          <a:p>
            <a:pPr algn="ctr">
              <a:defRPr sz="2000">
                <a:solidFill>
                  <a:srgbClr val="505050"/>
                </a:solidFill>
              </a:defRPr>
            </a:pPr>
            <a:r>
              <a:rPr dirty="0"/>
              <a:t>Why does one category carry almost the entire business?</a:t>
            </a:r>
          </a:p>
        </p:txBody>
      </p:sp>
      <p:sp>
        <p:nvSpPr>
          <p:cNvPr id="5" name="TextBox 4"/>
          <p:cNvSpPr txBox="1"/>
          <p:nvPr/>
        </p:nvSpPr>
        <p:spPr>
          <a:xfrm>
            <a:off x="628650" y="5873750"/>
            <a:ext cx="7988300" cy="738664"/>
          </a:xfrm>
          <a:prstGeom prst="rect">
            <a:avLst/>
          </a:prstGeom>
          <a:noFill/>
        </p:spPr>
        <p:txBody>
          <a:bodyPr wrap="square" rtlCol="0">
            <a:spAutoFit/>
          </a:bodyPr>
          <a:lstStyle/>
          <a:p>
            <a:r>
              <a:rPr lang="en-US" sz="1400" i="1" dirty="0"/>
              <a:t>Bikes dominate everything. More than $28M from one category. That’s concentration risk. If bikes slow down, everything slows down. Accessories and clothing barely move the needle. This kind of dependency is something I would surface early to a strategy team to avoid blind spots.</a:t>
            </a:r>
          </a:p>
        </p:txBody>
      </p:sp>
      <p:pic>
        <p:nvPicPr>
          <p:cNvPr id="7" name="Picture" title="This slide contains the following visuals: textbox ,textbox ,cardVisual ,shape ,cardVisual ,shape ,cardVisual ,cardVisual ,shape ,cardVisual ,shape ,shape ,pageNavigator ,slicer ,cardVisual ,shape ,Sales Performance Overview  ,Category Breakdown ,shape ,textbox ,textbox. Please refer to the notes on this slide for details">
            <a:hlinkClick r:id="rId3"/>
          </p:cNvPr>
          <p:cNvPicPr>
            <a:picLocks noChangeAspect="1"/>
          </p:cNvPicPr>
          <p:nvPr/>
        </p:nvPicPr>
        <p:blipFill>
          <a:blip r:embed="rId4"/>
          <a:stretch>
            <a:fillRect/>
          </a:stretch>
        </p:blipFill>
        <p:spPr>
          <a:xfrm>
            <a:off x="628650" y="1217930"/>
            <a:ext cx="7650956" cy="4655820"/>
          </a:xfrm>
          <a:prstGeom prst="rect">
            <a:avLst/>
          </a:prstGeom>
          <a:noFill/>
        </p:spPr>
      </p:pic>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457200" y="99060"/>
            <a:ext cx="8229600" cy="914400"/>
          </a:xfrm>
          <a:prstGeom prst="rect">
            <a:avLst/>
          </a:prstGeom>
          <a:noFill/>
        </p:spPr>
        <p:txBody>
          <a:bodyPr wrap="none">
            <a:spAutoFit/>
          </a:bodyPr>
          <a:lstStyle/>
          <a:p>
            <a:pPr algn="ctr">
              <a:defRPr sz="4000" b="1">
                <a:solidFill>
                  <a:srgbClr val="003B99"/>
                </a:solidFill>
              </a:defRPr>
            </a:pPr>
            <a:r>
              <a:rPr dirty="0"/>
              <a:t>Customer Revenue by Segment</a:t>
            </a:r>
          </a:p>
        </p:txBody>
      </p:sp>
      <p:sp>
        <p:nvSpPr>
          <p:cNvPr id="3" name="TextBox 2"/>
          <p:cNvSpPr txBox="1"/>
          <p:nvPr/>
        </p:nvSpPr>
        <p:spPr>
          <a:xfrm>
            <a:off x="558800" y="739140"/>
            <a:ext cx="8229600" cy="548640"/>
          </a:xfrm>
          <a:prstGeom prst="rect">
            <a:avLst/>
          </a:prstGeom>
          <a:noFill/>
        </p:spPr>
        <p:txBody>
          <a:bodyPr wrap="none">
            <a:spAutoFit/>
          </a:bodyPr>
          <a:lstStyle/>
          <a:p>
            <a:pPr algn="ctr">
              <a:defRPr sz="2000">
                <a:solidFill>
                  <a:srgbClr val="505050"/>
                </a:solidFill>
              </a:defRPr>
            </a:pPr>
            <a:r>
              <a:rPr dirty="0"/>
              <a:t>Why do new customers outperform VIP customers?</a:t>
            </a:r>
          </a:p>
        </p:txBody>
      </p:sp>
      <p:pic>
        <p:nvPicPr>
          <p:cNvPr id="4" name="Picture 3" descr="page_1.png"/>
          <p:cNvPicPr>
            <a:picLocks noChangeAspect="1"/>
          </p:cNvPicPr>
          <p:nvPr/>
        </p:nvPicPr>
        <p:blipFill>
          <a:blip r:embed="rId3"/>
          <a:stretch>
            <a:fillRect/>
          </a:stretch>
        </p:blipFill>
        <p:spPr>
          <a:xfrm>
            <a:off x="558800" y="1231900"/>
            <a:ext cx="8229600" cy="4583430"/>
          </a:xfrm>
          <a:prstGeom prst="rect">
            <a:avLst/>
          </a:prstGeom>
        </p:spPr>
      </p:pic>
      <p:sp>
        <p:nvSpPr>
          <p:cNvPr id="5" name="TextBox 4"/>
          <p:cNvSpPr txBox="1"/>
          <p:nvPr/>
        </p:nvSpPr>
        <p:spPr>
          <a:xfrm>
            <a:off x="457200" y="6051550"/>
            <a:ext cx="8331200" cy="738664"/>
          </a:xfrm>
          <a:prstGeom prst="rect">
            <a:avLst/>
          </a:prstGeom>
          <a:noFill/>
        </p:spPr>
        <p:txBody>
          <a:bodyPr wrap="square" rtlCol="0">
            <a:spAutoFit/>
          </a:bodyPr>
          <a:lstStyle/>
          <a:p>
            <a:r>
              <a:rPr lang="en-US" sz="1400" i="1" dirty="0"/>
              <a:t>New customers bring in the highest revenue, even above VIPs. It tells me acquisition is strong, but long‑term retention is weak. If I was supporting a client on OneTick Cloud, this is the type of insight I’d surface immediately because it influences onboarding and engagement decisions.</a:t>
            </a: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502920" y="0"/>
            <a:ext cx="8229600" cy="914400"/>
          </a:xfrm>
          <a:prstGeom prst="rect">
            <a:avLst/>
          </a:prstGeom>
          <a:noFill/>
        </p:spPr>
        <p:txBody>
          <a:bodyPr wrap="none">
            <a:spAutoFit/>
          </a:bodyPr>
          <a:lstStyle/>
          <a:p>
            <a:pPr algn="ctr">
              <a:defRPr sz="4000" b="1">
                <a:solidFill>
                  <a:srgbClr val="003B99"/>
                </a:solidFill>
              </a:defRPr>
            </a:pPr>
            <a:r>
              <a:rPr dirty="0"/>
              <a:t>Customer Engagement Insight</a:t>
            </a:r>
          </a:p>
        </p:txBody>
      </p:sp>
      <p:sp>
        <p:nvSpPr>
          <p:cNvPr id="3" name="TextBox 2"/>
          <p:cNvSpPr txBox="1"/>
          <p:nvPr/>
        </p:nvSpPr>
        <p:spPr>
          <a:xfrm>
            <a:off x="552450" y="640080"/>
            <a:ext cx="8229600" cy="548640"/>
          </a:xfrm>
          <a:prstGeom prst="rect">
            <a:avLst/>
          </a:prstGeom>
          <a:noFill/>
        </p:spPr>
        <p:txBody>
          <a:bodyPr wrap="none">
            <a:spAutoFit/>
          </a:bodyPr>
          <a:lstStyle/>
          <a:p>
            <a:pPr algn="ctr">
              <a:defRPr sz="2000">
                <a:solidFill>
                  <a:srgbClr val="505050"/>
                </a:solidFill>
              </a:defRPr>
            </a:pPr>
            <a:r>
              <a:rPr dirty="0"/>
              <a:t>What does it mean when 15,000+ customers need engagement?</a:t>
            </a:r>
          </a:p>
        </p:txBody>
      </p:sp>
      <p:pic>
        <p:nvPicPr>
          <p:cNvPr id="4" name="Picture 3" descr="page_1.png"/>
          <p:cNvPicPr>
            <a:picLocks noChangeAspect="1"/>
          </p:cNvPicPr>
          <p:nvPr/>
        </p:nvPicPr>
        <p:blipFill>
          <a:blip r:embed="rId3"/>
          <a:stretch>
            <a:fillRect/>
          </a:stretch>
        </p:blipFill>
        <p:spPr>
          <a:xfrm>
            <a:off x="502921" y="1076325"/>
            <a:ext cx="7924798" cy="4729479"/>
          </a:xfrm>
          <a:prstGeom prst="rect">
            <a:avLst/>
          </a:prstGeom>
        </p:spPr>
      </p:pic>
      <p:sp>
        <p:nvSpPr>
          <p:cNvPr id="5" name="TextBox 4"/>
          <p:cNvSpPr txBox="1"/>
          <p:nvPr/>
        </p:nvSpPr>
        <p:spPr>
          <a:xfrm>
            <a:off x="552450" y="5967729"/>
            <a:ext cx="8229600" cy="738664"/>
          </a:xfrm>
          <a:prstGeom prst="rect">
            <a:avLst/>
          </a:prstGeom>
          <a:noFill/>
        </p:spPr>
        <p:txBody>
          <a:bodyPr wrap="square" rtlCol="0">
            <a:spAutoFit/>
          </a:bodyPr>
          <a:lstStyle/>
          <a:p>
            <a:r>
              <a:rPr lang="en-US" sz="1400" i="1" dirty="0"/>
              <a:t>Only 2,905 customers are active, but more than 15,000 need engagement. That’s a major gap. In a market‑data context, this would feel like declining liquidity: fewer active participants, greater risk. It’s a signal worth watching closely.</a:t>
            </a: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457200" y="365760"/>
            <a:ext cx="8229600" cy="914400"/>
          </a:xfrm>
          <a:prstGeom prst="rect">
            <a:avLst/>
          </a:prstGeom>
          <a:noFill/>
        </p:spPr>
        <p:txBody>
          <a:bodyPr wrap="none">
            <a:spAutoFit/>
          </a:bodyPr>
          <a:lstStyle/>
          <a:p>
            <a:pPr algn="ctr">
              <a:defRPr sz="4000" b="1">
                <a:solidFill>
                  <a:srgbClr val="003B99"/>
                </a:solidFill>
              </a:defRPr>
            </a:pPr>
            <a:r>
              <a:t>Monthly Sales Trend</a:t>
            </a:r>
          </a:p>
        </p:txBody>
      </p:sp>
      <p:sp>
        <p:nvSpPr>
          <p:cNvPr id="3" name="TextBox 2"/>
          <p:cNvSpPr txBox="1"/>
          <p:nvPr/>
        </p:nvSpPr>
        <p:spPr>
          <a:xfrm>
            <a:off x="457200" y="1188720"/>
            <a:ext cx="8229600" cy="548640"/>
          </a:xfrm>
          <a:prstGeom prst="rect">
            <a:avLst/>
          </a:prstGeom>
          <a:noFill/>
        </p:spPr>
        <p:txBody>
          <a:bodyPr wrap="none">
            <a:spAutoFit/>
          </a:bodyPr>
          <a:lstStyle/>
          <a:p>
            <a:pPr algn="ctr">
              <a:defRPr sz="2000">
                <a:solidFill>
                  <a:srgbClr val="505050"/>
                </a:solidFill>
              </a:defRPr>
            </a:pPr>
            <a:r>
              <a:t>Why do sales spike consistently in December?</a:t>
            </a:r>
          </a:p>
        </p:txBody>
      </p:sp>
      <p:pic>
        <p:nvPicPr>
          <p:cNvPr id="4" name="Picture 3" descr="page_1.png"/>
          <p:cNvPicPr>
            <a:picLocks noChangeAspect="1"/>
          </p:cNvPicPr>
          <p:nvPr/>
        </p:nvPicPr>
        <p:blipFill>
          <a:blip r:embed="rId3"/>
          <a:stretch>
            <a:fillRect/>
          </a:stretch>
        </p:blipFill>
        <p:spPr>
          <a:xfrm>
            <a:off x="568325" y="1670050"/>
            <a:ext cx="8007350" cy="4335780"/>
          </a:xfrm>
          <a:prstGeom prst="rect">
            <a:avLst/>
          </a:prstGeom>
        </p:spPr>
      </p:pic>
      <p:sp>
        <p:nvSpPr>
          <p:cNvPr id="5" name="TextBox 4"/>
          <p:cNvSpPr txBox="1"/>
          <p:nvPr/>
        </p:nvSpPr>
        <p:spPr>
          <a:xfrm>
            <a:off x="568324" y="6064250"/>
            <a:ext cx="8007350" cy="954107"/>
          </a:xfrm>
          <a:prstGeom prst="rect">
            <a:avLst/>
          </a:prstGeom>
          <a:noFill/>
        </p:spPr>
        <p:txBody>
          <a:bodyPr wrap="square" rtlCol="0">
            <a:spAutoFit/>
          </a:bodyPr>
          <a:lstStyle/>
          <a:p>
            <a:r>
              <a:rPr lang="en-US" sz="1400" i="1" dirty="0"/>
              <a:t>December peaks every year. It’s predictable, seasonal, and consistent. Time‑series patterns like this matter in forecasting and help prevent misinterpretation of expected spikes. It’s the same logic used when analyzing market cycles.</a:t>
            </a:r>
          </a:p>
          <a:p>
            <a:endParaRPr lang="en-US" sz="1400" i="1"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393700" y="105410"/>
            <a:ext cx="8229600" cy="914400"/>
          </a:xfrm>
          <a:prstGeom prst="rect">
            <a:avLst/>
          </a:prstGeom>
          <a:noFill/>
        </p:spPr>
        <p:txBody>
          <a:bodyPr wrap="none">
            <a:spAutoFit/>
          </a:bodyPr>
          <a:lstStyle/>
          <a:p>
            <a:pPr algn="ctr">
              <a:defRPr sz="4000" b="1">
                <a:solidFill>
                  <a:srgbClr val="003B99"/>
                </a:solidFill>
              </a:defRPr>
            </a:pPr>
            <a:r>
              <a:rPr dirty="0"/>
              <a:t>Top-Selling Products</a:t>
            </a:r>
          </a:p>
        </p:txBody>
      </p:sp>
      <p:sp>
        <p:nvSpPr>
          <p:cNvPr id="3" name="TextBox 2"/>
          <p:cNvSpPr txBox="1"/>
          <p:nvPr/>
        </p:nvSpPr>
        <p:spPr>
          <a:xfrm>
            <a:off x="457200" y="826770"/>
            <a:ext cx="8229600" cy="548640"/>
          </a:xfrm>
          <a:prstGeom prst="rect">
            <a:avLst/>
          </a:prstGeom>
          <a:noFill/>
        </p:spPr>
        <p:txBody>
          <a:bodyPr wrap="none">
            <a:spAutoFit/>
          </a:bodyPr>
          <a:lstStyle/>
          <a:p>
            <a:pPr algn="ctr">
              <a:defRPr sz="2000">
                <a:solidFill>
                  <a:srgbClr val="505050"/>
                </a:solidFill>
              </a:defRPr>
            </a:pPr>
            <a:r>
              <a:rPr dirty="0"/>
              <a:t>What does it mean when low‑cost items dominate orders?</a:t>
            </a:r>
          </a:p>
        </p:txBody>
      </p:sp>
      <p:pic>
        <p:nvPicPr>
          <p:cNvPr id="4" name="Picture 3" descr="page_2.png"/>
          <p:cNvPicPr>
            <a:picLocks noChangeAspect="1"/>
          </p:cNvPicPr>
          <p:nvPr/>
        </p:nvPicPr>
        <p:blipFill>
          <a:blip r:embed="rId3"/>
          <a:stretch>
            <a:fillRect/>
          </a:stretch>
        </p:blipFill>
        <p:spPr>
          <a:xfrm>
            <a:off x="457201" y="1375410"/>
            <a:ext cx="8229598" cy="4486910"/>
          </a:xfrm>
          <a:prstGeom prst="rect">
            <a:avLst/>
          </a:prstGeom>
        </p:spPr>
      </p:pic>
      <p:sp>
        <p:nvSpPr>
          <p:cNvPr id="6" name="TextBox 5"/>
          <p:cNvSpPr txBox="1"/>
          <p:nvPr/>
        </p:nvSpPr>
        <p:spPr>
          <a:xfrm>
            <a:off x="393700" y="6076950"/>
            <a:ext cx="8293100" cy="738664"/>
          </a:xfrm>
          <a:prstGeom prst="rect">
            <a:avLst/>
          </a:prstGeom>
          <a:noFill/>
        </p:spPr>
        <p:txBody>
          <a:bodyPr wrap="square" rtlCol="0">
            <a:spAutoFit/>
          </a:bodyPr>
          <a:lstStyle/>
          <a:p>
            <a:pPr algn="just"/>
            <a:r>
              <a:rPr lang="en-US" sz="1400" i="1" dirty="0"/>
              <a:t>The most‑ordered products are low‑value items like bottles and tubes. This shows high‑frequency, low‑value buying behavior. In financial terms, this feels like a highly liquid asset: lots of activity at small amounts.</a:t>
            </a:r>
          </a:p>
          <a:p>
            <a:pPr algn="just"/>
            <a:endParaRPr lang="en-US" sz="1400" i="1"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457200" y="153036"/>
            <a:ext cx="8229600" cy="914400"/>
          </a:xfrm>
          <a:prstGeom prst="rect">
            <a:avLst/>
          </a:prstGeom>
          <a:noFill/>
        </p:spPr>
        <p:txBody>
          <a:bodyPr wrap="none">
            <a:spAutoFit/>
          </a:bodyPr>
          <a:lstStyle/>
          <a:p>
            <a:pPr algn="ctr">
              <a:defRPr sz="4000" b="1">
                <a:solidFill>
                  <a:srgbClr val="003B99"/>
                </a:solidFill>
              </a:defRPr>
            </a:pPr>
            <a:r>
              <a:rPr dirty="0"/>
              <a:t>Revenue Drivers</a:t>
            </a:r>
          </a:p>
        </p:txBody>
      </p:sp>
      <p:sp>
        <p:nvSpPr>
          <p:cNvPr id="3" name="TextBox 2"/>
          <p:cNvSpPr txBox="1"/>
          <p:nvPr/>
        </p:nvSpPr>
        <p:spPr>
          <a:xfrm>
            <a:off x="406082" y="793116"/>
            <a:ext cx="8229600" cy="548640"/>
          </a:xfrm>
          <a:prstGeom prst="rect">
            <a:avLst/>
          </a:prstGeom>
          <a:noFill/>
        </p:spPr>
        <p:txBody>
          <a:bodyPr wrap="none">
            <a:spAutoFit/>
          </a:bodyPr>
          <a:lstStyle/>
          <a:p>
            <a:pPr algn="ctr">
              <a:defRPr sz="2000">
                <a:solidFill>
                  <a:srgbClr val="505050"/>
                </a:solidFill>
              </a:defRPr>
            </a:pPr>
            <a:r>
              <a:rPr dirty="0"/>
              <a:t>Which products bring real revenue, not just volume?</a:t>
            </a:r>
          </a:p>
        </p:txBody>
      </p:sp>
      <p:pic>
        <p:nvPicPr>
          <p:cNvPr id="4" name="Picture 3" descr="page_2.png"/>
          <p:cNvPicPr>
            <a:picLocks noChangeAspect="1"/>
          </p:cNvPicPr>
          <p:nvPr/>
        </p:nvPicPr>
        <p:blipFill>
          <a:blip r:embed="rId3"/>
          <a:stretch>
            <a:fillRect/>
          </a:stretch>
        </p:blipFill>
        <p:spPr>
          <a:xfrm>
            <a:off x="1523365" y="1341756"/>
            <a:ext cx="5995035" cy="4063302"/>
          </a:xfrm>
          <a:prstGeom prst="rect">
            <a:avLst/>
          </a:prstGeom>
        </p:spPr>
      </p:pic>
      <p:sp>
        <p:nvSpPr>
          <p:cNvPr id="5" name="TextBox 4"/>
          <p:cNvSpPr txBox="1"/>
          <p:nvPr/>
        </p:nvSpPr>
        <p:spPr>
          <a:xfrm>
            <a:off x="660400" y="5549900"/>
            <a:ext cx="7607300" cy="954107"/>
          </a:xfrm>
          <a:prstGeom prst="rect">
            <a:avLst/>
          </a:prstGeom>
          <a:noFill/>
        </p:spPr>
        <p:txBody>
          <a:bodyPr wrap="square" rtlCol="0">
            <a:spAutoFit/>
          </a:bodyPr>
          <a:lstStyle/>
          <a:p>
            <a:r>
              <a:rPr lang="en-US" sz="1400" dirty="0"/>
              <a:t>High‑value products drive your revenue, even though they aren’t ordered the most. That gives us two customer profiles: frequent spenders and high‑value buyers. It’s important for segmentation and pricing decisions.</a:t>
            </a:r>
          </a:p>
          <a:p>
            <a:endParaRPr lang="en-US" sz="14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467360" y="203200"/>
            <a:ext cx="8229600" cy="914400"/>
          </a:xfrm>
          <a:prstGeom prst="rect">
            <a:avLst/>
          </a:prstGeom>
          <a:noFill/>
        </p:spPr>
        <p:txBody>
          <a:bodyPr wrap="none">
            <a:spAutoFit/>
          </a:bodyPr>
          <a:lstStyle/>
          <a:p>
            <a:pPr algn="ctr">
              <a:defRPr sz="4000" b="1">
                <a:solidFill>
                  <a:srgbClr val="003B99"/>
                </a:solidFill>
              </a:defRPr>
            </a:pPr>
            <a:r>
              <a:rPr dirty="0"/>
              <a:t>Profitability Insights</a:t>
            </a:r>
          </a:p>
        </p:txBody>
      </p:sp>
      <p:sp>
        <p:nvSpPr>
          <p:cNvPr id="3" name="TextBox 2"/>
          <p:cNvSpPr txBox="1"/>
          <p:nvPr/>
        </p:nvSpPr>
        <p:spPr>
          <a:xfrm>
            <a:off x="579120" y="927100"/>
            <a:ext cx="8229600" cy="548640"/>
          </a:xfrm>
          <a:prstGeom prst="rect">
            <a:avLst/>
          </a:prstGeom>
          <a:noFill/>
        </p:spPr>
        <p:txBody>
          <a:bodyPr wrap="none">
            <a:spAutoFit/>
          </a:bodyPr>
          <a:lstStyle/>
          <a:p>
            <a:pPr algn="ctr">
              <a:defRPr sz="2000">
                <a:solidFill>
                  <a:srgbClr val="505050"/>
                </a:solidFill>
              </a:defRPr>
            </a:pPr>
            <a:r>
              <a:rPr dirty="0"/>
              <a:t>Where does the business make profit most efficiently?</a:t>
            </a:r>
          </a:p>
        </p:txBody>
      </p:sp>
      <p:pic>
        <p:nvPicPr>
          <p:cNvPr id="4" name="Picture 3" descr="page_2.png"/>
          <p:cNvPicPr>
            <a:picLocks noChangeAspect="1"/>
          </p:cNvPicPr>
          <p:nvPr/>
        </p:nvPicPr>
        <p:blipFill>
          <a:blip r:embed="rId3"/>
          <a:stretch>
            <a:fillRect/>
          </a:stretch>
        </p:blipFill>
        <p:spPr>
          <a:xfrm>
            <a:off x="467360" y="1475739"/>
            <a:ext cx="8004893" cy="4284981"/>
          </a:xfrm>
          <a:prstGeom prst="rect">
            <a:avLst/>
          </a:prstGeom>
        </p:spPr>
      </p:pic>
      <p:sp>
        <p:nvSpPr>
          <p:cNvPr id="5" name="TextBox 4"/>
          <p:cNvSpPr txBox="1"/>
          <p:nvPr/>
        </p:nvSpPr>
        <p:spPr>
          <a:xfrm>
            <a:off x="650240" y="5855546"/>
            <a:ext cx="8158480" cy="1015663"/>
          </a:xfrm>
          <a:prstGeom prst="rect">
            <a:avLst/>
          </a:prstGeom>
          <a:noFill/>
        </p:spPr>
        <p:txBody>
          <a:bodyPr wrap="square" rtlCol="0">
            <a:spAutoFit/>
          </a:bodyPr>
          <a:lstStyle/>
          <a:p>
            <a:r>
              <a:rPr lang="en-US" sz="1500" i="1" dirty="0"/>
              <a:t>Tire tubes and bottle cages deliver strong margins. Even though they don’t generate the highest revenue, they are extremely efficient. This is the kind of insight that affects pricing, supply, and portfolio decisions.</a:t>
            </a:r>
          </a:p>
          <a:p>
            <a:endParaRPr lang="en-US" sz="15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457200" y="365760"/>
            <a:ext cx="8229600" cy="914400"/>
          </a:xfrm>
          <a:prstGeom prst="rect">
            <a:avLst/>
          </a:prstGeom>
          <a:noFill/>
        </p:spPr>
        <p:txBody>
          <a:bodyPr wrap="none">
            <a:spAutoFit/>
          </a:bodyPr>
          <a:lstStyle/>
          <a:p>
            <a:pPr algn="ctr">
              <a:defRPr sz="4000" b="1">
                <a:solidFill>
                  <a:srgbClr val="003B99"/>
                </a:solidFill>
              </a:defRPr>
            </a:pPr>
            <a:r>
              <a:t>Implications for OneMarketData</a:t>
            </a:r>
          </a:p>
        </p:txBody>
      </p:sp>
      <p:sp>
        <p:nvSpPr>
          <p:cNvPr id="3" name="TextBox 2"/>
          <p:cNvSpPr txBox="1"/>
          <p:nvPr/>
        </p:nvSpPr>
        <p:spPr>
          <a:xfrm>
            <a:off x="457200" y="1188720"/>
            <a:ext cx="8229600" cy="548640"/>
          </a:xfrm>
          <a:prstGeom prst="rect">
            <a:avLst/>
          </a:prstGeom>
          <a:noFill/>
        </p:spPr>
        <p:txBody>
          <a:bodyPr wrap="none">
            <a:spAutoFit/>
          </a:bodyPr>
          <a:lstStyle/>
          <a:p>
            <a:pPr algn="ctr">
              <a:defRPr sz="2000">
                <a:solidFill>
                  <a:srgbClr val="505050"/>
                </a:solidFill>
              </a:defRPr>
            </a:pPr>
            <a:r>
              <a:t>How does this analysis reflect the role I’m applying for?</a:t>
            </a:r>
          </a:p>
        </p:txBody>
      </p:sp>
      <p:sp>
        <p:nvSpPr>
          <p:cNvPr id="4" name="TextBox 3"/>
          <p:cNvSpPr txBox="1"/>
          <p:nvPr/>
        </p:nvSpPr>
        <p:spPr>
          <a:xfrm>
            <a:off x="920750" y="1960155"/>
            <a:ext cx="7559040" cy="1200329"/>
          </a:xfrm>
          <a:prstGeom prst="rect">
            <a:avLst/>
          </a:prstGeom>
          <a:noFill/>
        </p:spPr>
        <p:txBody>
          <a:bodyPr wrap="square" rtlCol="0">
            <a:spAutoFit/>
          </a:bodyPr>
          <a:lstStyle/>
          <a:p>
            <a:r>
              <a:rPr lang="en-US" dirty="0"/>
              <a:t>My approach is simple: find patterns, validate anomalies, understand behavior, and turn numbers into decisions. This is exactly how I would support clients on OneTick — through clarity and insight.</a:t>
            </a:r>
          </a:p>
          <a:p>
            <a:endParaRPr lang="en-US"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457200" y="365760"/>
            <a:ext cx="8229600" cy="914400"/>
          </a:xfrm>
          <a:prstGeom prst="rect">
            <a:avLst/>
          </a:prstGeom>
          <a:noFill/>
        </p:spPr>
        <p:txBody>
          <a:bodyPr wrap="none">
            <a:spAutoFit/>
          </a:bodyPr>
          <a:lstStyle/>
          <a:p>
            <a:pPr algn="ctr">
              <a:defRPr sz="4000" b="1">
                <a:solidFill>
                  <a:srgbClr val="003B99"/>
                </a:solidFill>
              </a:defRPr>
            </a:pPr>
            <a:r>
              <a:t>Closing Summary</a:t>
            </a:r>
          </a:p>
        </p:txBody>
      </p:sp>
      <p:sp>
        <p:nvSpPr>
          <p:cNvPr id="3" name="TextBox 2"/>
          <p:cNvSpPr txBox="1"/>
          <p:nvPr/>
        </p:nvSpPr>
        <p:spPr>
          <a:xfrm>
            <a:off x="457200" y="1188720"/>
            <a:ext cx="8229600" cy="548640"/>
          </a:xfrm>
          <a:prstGeom prst="rect">
            <a:avLst/>
          </a:prstGeom>
          <a:noFill/>
        </p:spPr>
        <p:txBody>
          <a:bodyPr wrap="none">
            <a:spAutoFit/>
          </a:bodyPr>
          <a:lstStyle/>
          <a:p>
            <a:pPr algn="ctr">
              <a:defRPr sz="2000">
                <a:solidFill>
                  <a:srgbClr val="505050"/>
                </a:solidFill>
              </a:defRPr>
            </a:pPr>
            <a:r>
              <a:t>What’s the simplest way to explain my approach?</a:t>
            </a:r>
          </a:p>
        </p:txBody>
      </p:sp>
      <p:sp>
        <p:nvSpPr>
          <p:cNvPr id="4" name="TextBox 3"/>
          <p:cNvSpPr txBox="1"/>
          <p:nvPr/>
        </p:nvSpPr>
        <p:spPr>
          <a:xfrm>
            <a:off x="1391920" y="1982470"/>
            <a:ext cx="6898640" cy="1477328"/>
          </a:xfrm>
          <a:prstGeom prst="rect">
            <a:avLst/>
          </a:prstGeom>
          <a:noFill/>
        </p:spPr>
        <p:txBody>
          <a:bodyPr wrap="square" rtlCol="0">
            <a:spAutoFit/>
          </a:bodyPr>
          <a:lstStyle/>
          <a:p>
            <a:r>
              <a:rPr lang="en-US" dirty="0"/>
              <a:t>Clarity matters. If I can explain a trend in one sentence, it means I understand it well. And when I understand it, I can help teams make better decisions. That’s the value I bring: clear thinking and client‑focused analysis.</a:t>
            </a:r>
          </a:p>
          <a:p>
            <a:endParaRPr lang="en-US"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Custom Design">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39</TotalTime>
  <Words>1225</Words>
  <Application>Microsoft Office PowerPoint</Application>
  <PresentationFormat>On-screen Show (4:3)</PresentationFormat>
  <Paragraphs>46</Paragraphs>
  <Slides>12</Slides>
  <Notes>10</Notes>
  <HiddenSlides>0</HiddenSlides>
  <MMClips>0</MMClips>
  <ScaleCrop>false</ScaleCrop>
  <HeadingPairs>
    <vt:vector size="6" baseType="variant">
      <vt:variant>
        <vt:lpstr>Fonts Used</vt:lpstr>
      </vt:variant>
      <vt:variant>
        <vt:i4>4</vt:i4>
      </vt:variant>
      <vt:variant>
        <vt:lpstr>Theme</vt:lpstr>
      </vt:variant>
      <vt:variant>
        <vt:i4>2</vt:i4>
      </vt:variant>
      <vt:variant>
        <vt:lpstr>Slide Titles</vt:lpstr>
      </vt:variant>
      <vt:variant>
        <vt:i4>12</vt:i4>
      </vt:variant>
    </vt:vector>
  </HeadingPairs>
  <TitlesOfParts>
    <vt:vector size="18" baseType="lpstr">
      <vt:lpstr>Arial</vt:lpstr>
      <vt:lpstr>Calibri</vt:lpstr>
      <vt:lpstr>Calibri Light</vt:lpstr>
      <vt:lpstr>Segoe UI Light</vt:lpstr>
      <vt:lpstr>Office Theme</vt:lpstr>
      <vt:lpstr>Custom Design</vt:lpstr>
      <vt:lpstr>Customers and product insight</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Manager/>
  <Company/>
  <LinksUpToDate>false</LinksUpToDate>
  <SharedDoc>false</SharedDoc>
  <HyperlinkBase/>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subject/>
  <dc:creator>REMILEKUN FOLOHUNSO</dc:creator>
  <cp:keywords/>
  <dc:description>generated using python-pptx</dc:description>
  <cp:lastModifiedBy>DELL</cp:lastModifiedBy>
  <cp:revision>7</cp:revision>
  <dcterms:created xsi:type="dcterms:W3CDTF">2013-01-27T09:14:16Z</dcterms:created>
  <dcterms:modified xsi:type="dcterms:W3CDTF">2025-12-06T16:35:13Z</dcterms:modified>
  <cp:category/>
</cp:coreProperties>
</file>